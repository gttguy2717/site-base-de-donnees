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png"/><Relationship Id="rId4" Type="http://schemas.openxmlformats.org/officeDocument/2006/relationships/image" Target="../media/image3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png"/><Relationship Id="rId4" Type="http://schemas.openxmlformats.org/officeDocument/2006/relationships/image" Target="../media/image3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png"/><Relationship Id="rId4" Type="http://schemas.openxmlformats.org/officeDocument/2006/relationships/image" Target="../media/image3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png"/><Relationship Id="rId4" Type="http://schemas.openxmlformats.org/officeDocument/2006/relationships/image" Target="../media/image3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png"/><Relationship Id="rId4" Type="http://schemas.openxmlformats.org/officeDocument/2006/relationships/image" Target="../media/image3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png"/><Relationship Id="rId4" Type="http://schemas.openxmlformats.org/officeDocument/2006/relationships/image" Target="../media/image3.png"/><Relationship Id="rId5" Type="http://schemas.openxmlformats.org/officeDocument/2006/relationships/image" Target="../media/image4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fond_slide_dark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logo-soutarah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14400" y="548640"/>
            <a:ext cx="1645920" cy="1645920"/>
          </a:xfrm>
          <a:prstGeom prst="rect">
            <a:avLst/>
          </a:prstGeom>
        </p:spPr>
      </p:pic>
      <p:pic>
        <p:nvPicPr>
          <p:cNvPr id="5" name="Picture 4" descr="sogelec.jpe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601200" y="594360"/>
            <a:ext cx="1645920" cy="822960"/>
          </a:xfrm>
          <a:prstGeom prst="rect">
            <a:avLst/>
          </a:prstGeom>
        </p:spPr>
      </p:pic>
      <p:sp>
        <p:nvSpPr>
          <p:cNvPr id="6" name="Rounded Rectangle 5"/>
          <p:cNvSpPr/>
          <p:nvPr/>
        </p:nvSpPr>
        <p:spPr>
          <a:xfrm>
            <a:off x="2926080" y="640080"/>
            <a:ext cx="6309360" cy="411480"/>
          </a:xfrm>
          <a:prstGeom prst="roundRect">
            <a:avLst/>
          </a:prstGeom>
          <a:solidFill>
            <a:srgbClr val="111827"/>
          </a:solidFill>
          <a:ln w="19050"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73152"/>
          <a:lstStyle/>
          <a:p>
            <a:pPr algn="ctr"/>
            <a:r>
              <a:rPr sz="1200" b="1">
                <a:solidFill>
                  <a:srgbClr val="F59E0B"/>
                </a:solidFill>
                <a:latin typeface="Segoe UI"/>
              </a:rPr>
              <a:t>⚡ ALLIANCE STRATÉGIQUE : SOUTARAH GROUP × SOGELEC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" y="1463040"/>
            <a:ext cx="10362895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600" b="1">
                <a:solidFill>
                  <a:srgbClr val="FFFFFF"/>
                </a:solidFill>
                <a:latin typeface="Segoe UI"/>
              </a:rPr>
              <a:t>Matériel électrique :
</a:t>
            </a:r>
            <a:r>
              <a:rPr sz="4400" b="1">
                <a:solidFill>
                  <a:srgbClr val="F59E0B"/>
                </a:solidFill>
                <a:latin typeface="Segoe UI"/>
              </a:rPr>
              <a:t>Et si on arrêtait de péter les plombs ?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914400" y="3291840"/>
            <a:ext cx="10362895" cy="1097280"/>
          </a:xfrm>
          <a:prstGeom prst="roundRect">
            <a:avLst/>
          </a:prstGeom>
          <a:solidFill>
            <a:srgbClr val="111827"/>
          </a:solidFill>
          <a:ln w="19050">
            <a:solidFill>
              <a:srgbClr val="37415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164592" lIns="365760" rIns="365760"/>
          <a:lstStyle/>
          <a:p>
            <a:pPr algn="ctr"/>
            <a:r>
              <a:rPr sz="1800" b="1">
                <a:solidFill>
                  <a:srgbClr val="FBBF24"/>
                </a:solidFill>
                <a:latin typeface="Segoe UI"/>
              </a:rPr>
              <a:t>Devis instantanés, stock visible en live &amp; livraison directe sur chantier par Soutarah Group.</a:t>
            </a:r>
          </a:p>
          <a:p>
            <a:pPr algn="ctr"/>
            <a:r>
              <a:rPr sz="1300">
                <a:solidFill>
                  <a:srgbClr val="E2E8F0"/>
                </a:solidFill>
                <a:latin typeface="Segoe UI"/>
              </a:rPr>
              <a:t>⚡ Chiffrage immédiat 24/7   •   📦 Visibilité stock en temps réel   •   🚚 Acheminement direct sur site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914400" y="4663440"/>
            <a:ext cx="10362895" cy="1371600"/>
          </a:xfrm>
          <a:prstGeom prst="roundRect">
            <a:avLst/>
          </a:prstGeom>
          <a:solidFill>
            <a:srgbClr val="101A2E"/>
          </a:solidFill>
          <a:ln w="19050">
            <a:solidFill>
              <a:srgbClr val="0EA5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228600" lIns="457200" rIns="457200"/>
          <a:lstStyle/>
          <a:p>
            <a:pPr algn="ctr"/>
            <a:r>
              <a:rPr sz="1700" i="1" b="1">
                <a:solidFill>
                  <a:srgbClr val="FFFFFF"/>
                </a:solidFill>
                <a:latin typeface="Segoe UI"/>
              </a:rPr>
              <a:t>« Parce qu’un technicien qui attend du matériel, c’est de l’argent qui s'envole en fumée. »</a:t>
            </a:r>
          </a:p>
          <a:p>
            <a:pPr algn="ctr"/>
            <a:r>
              <a:rPr sz="1500" b="1">
                <a:solidFill>
                  <a:srgbClr val="F59E0B"/>
                </a:solidFill>
                <a:latin typeface="Segoe UI"/>
              </a:rPr>
              <a:t>👉 Découvrez le négoce version 2.0 avec Soutarah Group.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31520" y="6446520"/>
            <a:ext cx="1078992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00">
                <a:solidFill>
                  <a:srgbClr val="9CA3AF"/>
                </a:solidFill>
                <a:latin typeface="Segoe UI"/>
              </a:rPr>
              <a:t>SOUTARAH GROUP × SOGELEC  •  Négoce Électrique 2.0  •  soutarahgroup.com</a:t>
            </a:r>
            <a:r>
              <a:rPr sz="1000" b="1">
                <a:solidFill>
                  <a:srgbClr val="F59E0B"/>
                </a:solidFill>
                <a:latin typeface="Segoe UI"/>
              </a:rPr>
              <a:t>                                                                                           1 / 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fond_slide_dark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logo-soutarah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31520" y="274320"/>
            <a:ext cx="1005840" cy="1005840"/>
          </a:xfrm>
          <a:prstGeom prst="rect">
            <a:avLst/>
          </a:prstGeom>
        </p:spPr>
      </p:pic>
      <p:pic>
        <p:nvPicPr>
          <p:cNvPr id="5" name="Picture 4" descr="sogelec.jpe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241280" y="292608"/>
            <a:ext cx="1280160" cy="64008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1920240" y="320040"/>
            <a:ext cx="804672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100" b="1">
                <a:solidFill>
                  <a:srgbClr val="EF4444"/>
                </a:solidFill>
                <a:latin typeface="Segoe UI"/>
              </a:rPr>
              <a:t>⚠️ LE CONSTAT CHANTIER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822960"/>
            <a:ext cx="10789920" cy="5943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2300" b="1">
                <a:solidFill>
                  <a:srgbClr val="FFFFFF"/>
                </a:solidFill>
                <a:latin typeface="Segoe UI"/>
              </a:rPr>
              <a:t>Scène classique sur chantier...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1371600"/>
            <a:ext cx="1078992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300" i="1">
                <a:solidFill>
                  <a:srgbClr val="9CA3AF"/>
                </a:solidFill>
                <a:latin typeface="Segoe UI"/>
              </a:rPr>
              <a:t>(Toute ressemblance avec votre quotidien est purement volontaire)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31520" y="1828800"/>
            <a:ext cx="5212080" cy="2103120"/>
          </a:xfrm>
          <a:prstGeom prst="roundRect">
            <a:avLst/>
          </a:prstGeom>
          <a:solidFill>
            <a:srgbClr val="111827"/>
          </a:solidFill>
          <a:ln w="19050">
            <a:solidFill>
              <a:srgbClr val="EF444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274320" rIns="274320" tIns="182880" wrap="square"/>
          <a:lstStyle/>
          <a:p>
            <a:pPr algn="ctr"/>
            <a:r>
              <a:rPr sz="1700" b="1">
                <a:solidFill>
                  <a:srgbClr val="EF4444"/>
                </a:solidFill>
                <a:latin typeface="Segoe UI"/>
              </a:rPr>
              <a:t>⏳  Le devis "fantôme"</a:t>
            </a:r>
          </a:p>
          <a:p>
            <a:pPr>
              <a:spcBef>
                <a:spcPts val="600"/>
              </a:spcBef>
            </a:pPr>
            <a:r>
              <a:rPr sz="1300" i="1">
                <a:solidFill>
                  <a:srgbClr val="FFFFFF"/>
                </a:solidFill>
                <a:latin typeface="Segoe UI"/>
              </a:rPr>
              <a:t>« Demandé lundi, relancé mercredi, reçu... le mois prochain. »</a:t>
            </a:r>
          </a:p>
          <a:p>
            <a:pPr>
              <a:spcBef>
                <a:spcPts val="800"/>
              </a:spcBef>
            </a:pPr>
            <a:r>
              <a:rPr sz="1200">
                <a:solidFill>
                  <a:srgbClr val="9CA3AF"/>
                </a:solidFill>
                <a:latin typeface="Segoe UI"/>
              </a:rPr>
              <a:t>Résultat : Chantier bloqué, retards de livraison et plannings explosés.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17920" y="1828800"/>
            <a:ext cx="5212080" cy="2103120"/>
          </a:xfrm>
          <a:prstGeom prst="roundRect">
            <a:avLst/>
          </a:prstGeom>
          <a:solidFill>
            <a:srgbClr val="111827"/>
          </a:solidFill>
          <a:ln w="19050"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274320" rIns="274320" tIns="182880" wrap="square"/>
          <a:lstStyle/>
          <a:p>
            <a:pPr algn="ctr"/>
            <a:r>
              <a:rPr sz="1700" b="1">
                <a:solidFill>
                  <a:srgbClr val="F59E0B"/>
                </a:solidFill>
                <a:latin typeface="Segoe UI"/>
              </a:rPr>
              <a:t>📦  La boîte vide</a:t>
            </a:r>
          </a:p>
          <a:p>
            <a:pPr>
              <a:spcBef>
                <a:spcPts val="600"/>
              </a:spcBef>
            </a:pPr>
            <a:r>
              <a:rPr sz="1300" i="1">
                <a:solidFill>
                  <a:srgbClr val="FFFFFF"/>
                </a:solidFill>
                <a:latin typeface="Segoe UI"/>
              </a:rPr>
              <a:t>« Faire 2 heures d'embouteillages pour entendre : "Ah mon frère, c'est fini en stock !" »</a:t>
            </a:r>
          </a:p>
          <a:p>
            <a:pPr>
              <a:spcBef>
                <a:spcPts val="800"/>
              </a:spcBef>
            </a:pPr>
            <a:r>
              <a:rPr sz="1200">
                <a:solidFill>
                  <a:srgbClr val="9CA3AF"/>
                </a:solidFill>
                <a:latin typeface="Segoe UI"/>
              </a:rPr>
              <a:t>Résultat : Temps perdu dans les embouteillages d'Abidjan et carburant gaspillé.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31520" y="4114800"/>
            <a:ext cx="5212080" cy="2103120"/>
          </a:xfrm>
          <a:prstGeom prst="roundRect">
            <a:avLst/>
          </a:prstGeom>
          <a:solidFill>
            <a:srgbClr val="111827"/>
          </a:solidFill>
          <a:ln w="19050">
            <a:solidFill>
              <a:srgbClr val="EF444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274320" rIns="274320" tIns="182880" wrap="square"/>
          <a:lstStyle/>
          <a:p>
            <a:pPr algn="ctr"/>
            <a:r>
              <a:rPr sz="1700" b="1">
                <a:solidFill>
                  <a:srgbClr val="EF4444"/>
                </a:solidFill>
                <a:latin typeface="Segoe UI"/>
              </a:rPr>
              <a:t>⚡  Le mauvais composant</a:t>
            </a:r>
          </a:p>
          <a:p>
            <a:pPr>
              <a:spcBef>
                <a:spcPts val="600"/>
              </a:spcBef>
            </a:pPr>
            <a:r>
              <a:rPr sz="1300" i="1">
                <a:solidFill>
                  <a:srgbClr val="FFFFFF"/>
                </a:solidFill>
                <a:latin typeface="Segoe UI"/>
              </a:rPr>
              <a:t>« Le disjoncteur reçu n'est pas le bon, mais "ça s'adapte avec un bout de scotch" (spoilers : non). »</a:t>
            </a:r>
          </a:p>
          <a:p>
            <a:pPr>
              <a:spcBef>
                <a:spcPts val="800"/>
              </a:spcBef>
            </a:pPr>
            <a:r>
              <a:rPr sz="1200">
                <a:solidFill>
                  <a:srgbClr val="9CA3AF"/>
                </a:solidFill>
                <a:latin typeface="Segoe UI"/>
              </a:rPr>
              <a:t>Résultat : Risques graves d'incendie, non-conformité et reprise coûteuse.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217920" y="4114800"/>
            <a:ext cx="5212080" cy="2103120"/>
          </a:xfrm>
          <a:prstGeom prst="roundRect">
            <a:avLst/>
          </a:prstGeom>
          <a:solidFill>
            <a:srgbClr val="111827"/>
          </a:solidFill>
          <a:ln w="19050"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274320" rIns="274320" tIns="182880" wrap="square"/>
          <a:lstStyle/>
          <a:p>
            <a:pPr algn="ctr"/>
            <a:r>
              <a:rPr sz="1700" b="1">
                <a:solidFill>
                  <a:srgbClr val="F59E0B"/>
                </a:solidFill>
                <a:latin typeface="Segoe UI"/>
              </a:rPr>
              <a:t>🚚  Le marathon logistique</a:t>
            </a:r>
          </a:p>
          <a:p>
            <a:pPr>
              <a:spcBef>
                <a:spcPts val="600"/>
              </a:spcBef>
            </a:pPr>
            <a:r>
              <a:rPr sz="1300" i="1">
                <a:solidFill>
                  <a:srgbClr val="FFFFFF"/>
                </a:solidFill>
                <a:latin typeface="Segoe UI"/>
              </a:rPr>
              <a:t>« Devoir transformer le chef de chantier en livreur de câbles improvisé. »</a:t>
            </a:r>
          </a:p>
          <a:p>
            <a:pPr>
              <a:spcBef>
                <a:spcPts val="800"/>
              </a:spcBef>
            </a:pPr>
            <a:r>
              <a:rPr sz="1200">
                <a:solidFill>
                  <a:srgbClr val="9CA3AF"/>
                </a:solidFill>
                <a:latin typeface="Segoe UI"/>
              </a:rPr>
              <a:t>Résultat : Main-d'œuvre qualifiée détournée de sa vraie mission sur le chantier.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31520" y="6446520"/>
            <a:ext cx="1078992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00">
                <a:solidFill>
                  <a:srgbClr val="9CA3AF"/>
                </a:solidFill>
                <a:latin typeface="Segoe UI"/>
              </a:rPr>
              <a:t>SOUTARAH GROUP × SOGELEC  •  Négoce Électrique 2.0  •  soutarahgroup.com</a:t>
            </a:r>
            <a:r>
              <a:rPr sz="1000" b="1">
                <a:solidFill>
                  <a:srgbClr val="F59E0B"/>
                </a:solidFill>
                <a:latin typeface="Segoe UI"/>
              </a:rPr>
              <a:t>                                                                                           2 / 6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fond_slide_dark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logo-soutarah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31520" y="274320"/>
            <a:ext cx="1005840" cy="1005840"/>
          </a:xfrm>
          <a:prstGeom prst="rect">
            <a:avLst/>
          </a:prstGeom>
        </p:spPr>
      </p:pic>
      <p:pic>
        <p:nvPicPr>
          <p:cNvPr id="5" name="Picture 4" descr="sogelec.jpe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241280" y="292608"/>
            <a:ext cx="1280160" cy="64008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1920240" y="320040"/>
            <a:ext cx="804672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100" b="1">
                <a:solidFill>
                  <a:srgbClr val="0EA5E9"/>
                </a:solidFill>
                <a:latin typeface="Segoe UI"/>
              </a:rPr>
              <a:t>💡 LA RÉVOLUTION SOUTARAH NÉGOCE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822960"/>
            <a:ext cx="10789920" cy="5943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2300" b="1">
                <a:solidFill>
                  <a:srgbClr val="FFFFFF"/>
                </a:solidFill>
                <a:latin typeface="Segoe UI"/>
              </a:rPr>
              <a:t>Vous avez le chantier, nous avons les étincelles !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1371600"/>
            <a:ext cx="1078992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300" i="1">
                <a:solidFill>
                  <a:srgbClr val="9CA3AF"/>
                </a:solidFill>
                <a:latin typeface="Segoe UI"/>
              </a:rPr>
              <a:t>Les 4 super-pouvoirs de notre plateforme pour un approvisionnement sans prise de tête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31520" y="1828800"/>
            <a:ext cx="2514600" cy="4297680"/>
          </a:xfrm>
          <a:prstGeom prst="roundRect">
            <a:avLst/>
          </a:prstGeom>
          <a:solidFill>
            <a:srgbClr val="111827"/>
          </a:solidFill>
          <a:ln w="19050"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82880" rIns="182880" tIns="228600" wrap="square"/>
          <a:lstStyle/>
          <a:p>
            <a:pPr algn="ctr"/>
            <a:r>
              <a:rPr sz="3600"/>
              <a:t>⚡</a:t>
            </a:r>
          </a:p>
          <a:p>
            <a:pPr algn="ctr">
              <a:spcBef>
                <a:spcPts val="800"/>
              </a:spcBef>
            </a:pPr>
            <a:r>
              <a:rPr sz="1600" b="1">
                <a:solidFill>
                  <a:srgbClr val="F59E0B"/>
                </a:solidFill>
                <a:latin typeface="Segoe UI"/>
              </a:rPr>
              <a:t>Devis plus rapide
que l'éclair</a:t>
            </a:r>
          </a:p>
          <a:p>
            <a:pPr algn="ctr">
              <a:spcBef>
                <a:spcPts val="1200"/>
              </a:spcBef>
            </a:pPr>
            <a:r>
              <a:rPr sz="1300" b="1">
                <a:solidFill>
                  <a:srgbClr val="FFFFFF"/>
                </a:solidFill>
                <a:latin typeface="Segoe UI"/>
              </a:rPr>
              <a:t>Chiffrez vos besoins en ligne en temps réel.</a:t>
            </a:r>
          </a:p>
          <a:p>
            <a:pPr algn="ctr">
              <a:spcBef>
                <a:spcPts val="800"/>
              </a:spcBef>
            </a:pPr>
            <a:r>
              <a:rPr sz="1000">
                <a:solidFill>
                  <a:srgbClr val="374151"/>
                </a:solidFill>
              </a:rPr>
              <a:t>─────────</a:t>
            </a:r>
          </a:p>
          <a:p>
            <a:pPr>
              <a:spcBef>
                <a:spcPts val="800"/>
              </a:spcBef>
            </a:pPr>
            <a:r>
              <a:rPr sz="1100">
                <a:solidFill>
                  <a:srgbClr val="E2E8F0"/>
                </a:solidFill>
                <a:latin typeface="Segoe UI"/>
              </a:rPr>
              <a:t>Accédez instantanément aux prix officiels sans attendre des jours. Émission de devis pro-forma certifié en 1 clic.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3474720" y="1828800"/>
            <a:ext cx="2514600" cy="4297680"/>
          </a:xfrm>
          <a:prstGeom prst="roundRect">
            <a:avLst/>
          </a:prstGeom>
          <a:solidFill>
            <a:srgbClr val="111827"/>
          </a:solidFill>
          <a:ln w="19050">
            <a:solidFill>
              <a:srgbClr val="0EA5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82880" rIns="182880" tIns="228600" wrap="square"/>
          <a:lstStyle/>
          <a:p>
            <a:pPr algn="ctr"/>
            <a:r>
              <a:rPr sz="3600"/>
              <a:t>👁️</a:t>
            </a:r>
          </a:p>
          <a:p>
            <a:pPr algn="ctr">
              <a:spcBef>
                <a:spcPts val="800"/>
              </a:spcBef>
            </a:pPr>
            <a:r>
              <a:rPr sz="1600" b="1">
                <a:solidFill>
                  <a:srgbClr val="0EA5E9"/>
                </a:solidFill>
                <a:latin typeface="Segoe UI"/>
              </a:rPr>
              <a:t>Transparence
"Rayons X"</a:t>
            </a:r>
          </a:p>
          <a:p>
            <a:pPr algn="ctr">
              <a:spcBef>
                <a:spcPts val="1200"/>
              </a:spcBef>
            </a:pPr>
            <a:r>
              <a:rPr sz="1300" b="1">
                <a:solidFill>
                  <a:srgbClr val="FFFFFF"/>
                </a:solidFill>
                <a:latin typeface="Segoe UI"/>
              </a:rPr>
              <a:t>Vous voyez le stock exact disponible avant de cliquer.</a:t>
            </a:r>
          </a:p>
          <a:p>
            <a:pPr algn="ctr">
              <a:spcBef>
                <a:spcPts val="800"/>
              </a:spcBef>
            </a:pPr>
            <a:r>
              <a:rPr sz="1000">
                <a:solidFill>
                  <a:srgbClr val="374151"/>
                </a:solidFill>
              </a:rPr>
              <a:t>─────────</a:t>
            </a:r>
          </a:p>
          <a:p>
            <a:pPr>
              <a:spcBef>
                <a:spcPts val="800"/>
              </a:spcBef>
            </a:pPr>
            <a:r>
              <a:rPr sz="1100">
                <a:solidFill>
                  <a:srgbClr val="E2E8F0"/>
                </a:solidFill>
                <a:latin typeface="Segoe UI"/>
              </a:rPr>
              <a:t>Zéro fausse promesse. Si c'est affiché disponible sur la plateforme, le produit est physiquement en rayon.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217920" y="1828800"/>
            <a:ext cx="2514600" cy="4297680"/>
          </a:xfrm>
          <a:prstGeom prst="roundRect">
            <a:avLst/>
          </a:prstGeom>
          <a:solidFill>
            <a:srgbClr val="111827"/>
          </a:solidFill>
          <a:ln w="1905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82880" rIns="182880" tIns="228600" wrap="square"/>
          <a:lstStyle/>
          <a:p>
            <a:pPr algn="ctr"/>
            <a:r>
              <a:rPr sz="3600"/>
              <a:t>🤝</a:t>
            </a:r>
          </a:p>
          <a:p>
            <a:pPr algn="ctr">
              <a:spcBef>
                <a:spcPts val="800"/>
              </a:spcBef>
            </a:pPr>
            <a:r>
              <a:rPr sz="1600" b="1">
                <a:solidFill>
                  <a:srgbClr val="10B981"/>
                </a:solidFill>
                <a:latin typeface="Segoe UI"/>
              </a:rPr>
              <a:t>Écosystème
de confiance</a:t>
            </a:r>
          </a:p>
          <a:p>
            <a:pPr algn="ctr">
              <a:spcBef>
                <a:spcPts val="1200"/>
              </a:spcBef>
            </a:pPr>
            <a:r>
              <a:rPr sz="1300" b="1">
                <a:solidFill>
                  <a:srgbClr val="FFFFFF"/>
                </a:solidFill>
                <a:latin typeface="Segoe UI"/>
              </a:rPr>
              <a:t>Soutenu par des leaders comme SOGELEC.</a:t>
            </a:r>
          </a:p>
          <a:p>
            <a:pPr algn="ctr">
              <a:spcBef>
                <a:spcPts val="800"/>
              </a:spcBef>
            </a:pPr>
            <a:r>
              <a:rPr sz="1000">
                <a:solidFill>
                  <a:srgbClr val="374151"/>
                </a:solidFill>
              </a:rPr>
              <a:t>─────────</a:t>
            </a:r>
          </a:p>
          <a:p>
            <a:pPr>
              <a:spcBef>
                <a:spcPts val="800"/>
              </a:spcBef>
            </a:pPr>
            <a:r>
              <a:rPr sz="1100">
                <a:solidFill>
                  <a:srgbClr val="E2E8F0"/>
                </a:solidFill>
                <a:latin typeface="Segoe UI"/>
              </a:rPr>
              <a:t>Partenariat direct garantissant du matériel 100% certifié constructeur, normé et d'origine contrôlée.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8961120" y="1828800"/>
            <a:ext cx="2514600" cy="4297680"/>
          </a:xfrm>
          <a:prstGeom prst="roundRect">
            <a:avLst/>
          </a:prstGeom>
          <a:solidFill>
            <a:srgbClr val="111827"/>
          </a:solidFill>
          <a:ln w="19050">
            <a:solidFill>
              <a:srgbClr val="FBBF2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82880" rIns="182880" tIns="228600" wrap="square"/>
          <a:lstStyle/>
          <a:p>
            <a:pPr algn="ctr"/>
            <a:r>
              <a:rPr sz="3600"/>
              <a:t>🚚</a:t>
            </a:r>
          </a:p>
          <a:p>
            <a:pPr algn="ctr">
              <a:spcBef>
                <a:spcPts val="800"/>
              </a:spcBef>
            </a:pPr>
            <a:r>
              <a:rPr sz="1600" b="1">
                <a:solidFill>
                  <a:srgbClr val="FBBF24"/>
                </a:solidFill>
                <a:latin typeface="Segoe UI"/>
              </a:rPr>
              <a:t>Livraison
"Zéro déplacement"</a:t>
            </a:r>
          </a:p>
          <a:p>
            <a:pPr algn="ctr">
              <a:spcBef>
                <a:spcPts val="1200"/>
              </a:spcBef>
            </a:pPr>
            <a:r>
              <a:rPr sz="1300" b="1">
                <a:solidFill>
                  <a:srgbClr val="FFFFFF"/>
                </a:solidFill>
                <a:latin typeface="Segoe UI"/>
              </a:rPr>
              <a:t>On vous livre directement sur votre chantier.</a:t>
            </a:r>
          </a:p>
          <a:p>
            <a:pPr algn="ctr">
              <a:spcBef>
                <a:spcPts val="800"/>
              </a:spcBef>
            </a:pPr>
            <a:r>
              <a:rPr sz="1000">
                <a:solidFill>
                  <a:srgbClr val="374151"/>
                </a:solidFill>
              </a:rPr>
              <a:t>─────────</a:t>
            </a:r>
          </a:p>
          <a:p>
            <a:pPr>
              <a:spcBef>
                <a:spcPts val="800"/>
              </a:spcBef>
            </a:pPr>
            <a:r>
              <a:rPr sz="1100">
                <a:solidFill>
                  <a:srgbClr val="E2E8F0"/>
                </a:solidFill>
                <a:latin typeface="Segoe UI"/>
              </a:rPr>
              <a:t>Acheminement express sur site à Abidjan et partout à l'intérieur du pays. Vos équipes restent concentrées.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31520" y="6446520"/>
            <a:ext cx="1078992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00">
                <a:solidFill>
                  <a:srgbClr val="9CA3AF"/>
                </a:solidFill>
                <a:latin typeface="Segoe UI"/>
              </a:rPr>
              <a:t>SOUTARAH GROUP × SOGELEC  •  Négoce Électrique 2.0  •  soutarahgroup.com</a:t>
            </a:r>
            <a:r>
              <a:rPr sz="1000" b="1">
                <a:solidFill>
                  <a:srgbClr val="F59E0B"/>
                </a:solidFill>
                <a:latin typeface="Segoe UI"/>
              </a:rPr>
              <a:t>                                                                                           3 / 6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fond_slide_dark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logo-soutarah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31520" y="274320"/>
            <a:ext cx="1005840" cy="1005840"/>
          </a:xfrm>
          <a:prstGeom prst="rect">
            <a:avLst/>
          </a:prstGeom>
        </p:spPr>
      </p:pic>
      <p:pic>
        <p:nvPicPr>
          <p:cNvPr id="5" name="Picture 4" descr="sogelec.jpe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241280" y="292608"/>
            <a:ext cx="1280160" cy="64008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1920240" y="320040"/>
            <a:ext cx="804672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100" b="1">
                <a:solidFill>
                  <a:srgbClr val="F59E0B"/>
                </a:solidFill>
                <a:latin typeface="Segoe UI"/>
              </a:rPr>
              <a:t>⚡ PARCOURS CLIENT FLUIDE &amp; RAPIDE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822960"/>
            <a:ext cx="10789920" cy="5943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2300" b="1">
                <a:solidFill>
                  <a:srgbClr val="FFFFFF"/>
                </a:solidFill>
                <a:latin typeface="Segoe UI"/>
              </a:rPr>
              <a:t>Moins de blabla, plus de watts.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1371600"/>
            <a:ext cx="1078992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300" i="1">
                <a:solidFill>
                  <a:srgbClr val="9CA3AF"/>
                </a:solidFill>
                <a:latin typeface="Segoe UI"/>
              </a:rPr>
              <a:t>Votre matériel électrique livré sur chantier en 4 étapes chrono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31520" y="1828800"/>
            <a:ext cx="2514600" cy="4297680"/>
          </a:xfrm>
          <a:prstGeom prst="roundRect">
            <a:avLst/>
          </a:prstGeom>
          <a:solidFill>
            <a:srgbClr val="111827"/>
          </a:solidFill>
          <a:ln w="19050">
            <a:solidFill>
              <a:srgbClr val="0EA5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228600" rIns="228600" tIns="274320" wrap="square"/>
          <a:lstStyle/>
          <a:p>
            <a:pPr algn="ctr"/>
            <a:r>
              <a:rPr sz="3800" b="1">
                <a:solidFill>
                  <a:srgbClr val="0EA5E9"/>
                </a:solidFill>
                <a:latin typeface="Segoe UI"/>
              </a:rPr>
              <a:t>01</a:t>
            </a:r>
          </a:p>
          <a:p>
            <a:pPr>
              <a:spcBef>
                <a:spcPts val="400"/>
              </a:spcBef>
            </a:pPr>
            <a:r>
              <a:rPr sz="1700" b="1">
                <a:solidFill>
                  <a:srgbClr val="FFFFFF"/>
                </a:solidFill>
                <a:latin typeface="Segoe UI"/>
              </a:rPr>
              <a:t>🖱️  CLIQUEZ</a:t>
            </a:r>
          </a:p>
          <a:p>
            <a:pPr>
              <a:spcBef>
                <a:spcPts val="400"/>
              </a:spcBef>
            </a:pPr>
            <a:r>
              <a:rPr sz="1200" b="1">
                <a:solidFill>
                  <a:srgbClr val="0EA5E9"/>
                </a:solidFill>
                <a:latin typeface="Segoe UI"/>
              </a:rPr>
              <a:t>Catalogue en ligne 24/7</a:t>
            </a:r>
          </a:p>
          <a:p>
            <a:pPr>
              <a:spcBef>
                <a:spcPts val="1000"/>
              </a:spcBef>
            </a:pPr>
            <a:r>
              <a:rPr sz="1000">
                <a:solidFill>
                  <a:srgbClr val="374151"/>
                </a:solidFill>
              </a:rPr>
              <a:t>─────────</a:t>
            </a:r>
          </a:p>
          <a:p>
            <a:pPr>
              <a:spcBef>
                <a:spcPts val="1000"/>
              </a:spcBef>
            </a:pPr>
            <a:r>
              <a:rPr sz="1200">
                <a:solidFill>
                  <a:srgbClr val="E2E8F0"/>
                </a:solidFill>
                <a:latin typeface="Segoe UI"/>
              </a:rPr>
              <a:t>Trouvez votre câble, disjoncteur ou armoire sur soutarahgroup.com en quelques clics.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3474720" y="1828800"/>
            <a:ext cx="2514600" cy="4297680"/>
          </a:xfrm>
          <a:prstGeom prst="roundRect">
            <a:avLst/>
          </a:prstGeom>
          <a:solidFill>
            <a:srgbClr val="111827"/>
          </a:solidFill>
          <a:ln w="1905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228600" rIns="228600" tIns="274320" wrap="square"/>
          <a:lstStyle/>
          <a:p>
            <a:pPr algn="ctr"/>
            <a:r>
              <a:rPr sz="3800" b="1">
                <a:solidFill>
                  <a:srgbClr val="10B981"/>
                </a:solidFill>
                <a:latin typeface="Segoe UI"/>
              </a:rPr>
              <a:t>02</a:t>
            </a:r>
          </a:p>
          <a:p>
            <a:pPr>
              <a:spcBef>
                <a:spcPts val="400"/>
              </a:spcBef>
            </a:pPr>
            <a:r>
              <a:rPr sz="1700" b="1">
                <a:solidFill>
                  <a:srgbClr val="FFFFFF"/>
                </a:solidFill>
                <a:latin typeface="Segoe UI"/>
              </a:rPr>
              <a:t>🟢  VÉRIFIEZ</a:t>
            </a:r>
          </a:p>
          <a:p>
            <a:pPr>
              <a:spcBef>
                <a:spcPts val="400"/>
              </a:spcBef>
            </a:pPr>
            <a:r>
              <a:rPr sz="1200" b="1">
                <a:solidFill>
                  <a:srgbClr val="10B981"/>
                </a:solidFill>
                <a:latin typeface="Segoe UI"/>
              </a:rPr>
              <a:t>Disponibilité immédiate</a:t>
            </a:r>
          </a:p>
          <a:p>
            <a:pPr>
              <a:spcBef>
                <a:spcPts val="1000"/>
              </a:spcBef>
            </a:pPr>
            <a:r>
              <a:rPr sz="1000">
                <a:solidFill>
                  <a:srgbClr val="374151"/>
                </a:solidFill>
              </a:rPr>
              <a:t>─────────</a:t>
            </a:r>
          </a:p>
          <a:p>
            <a:pPr>
              <a:spcBef>
                <a:spcPts val="1000"/>
              </a:spcBef>
            </a:pPr>
            <a:r>
              <a:rPr sz="1200">
                <a:solidFill>
                  <a:srgbClr val="E2E8F0"/>
                </a:solidFill>
                <a:latin typeface="Segoe UI"/>
              </a:rPr>
              <a:t>Le stock est au vert ? C’est réservé instantanément pour vous dans nos entrepôts !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217920" y="1828800"/>
            <a:ext cx="2514600" cy="4297680"/>
          </a:xfrm>
          <a:prstGeom prst="roundRect">
            <a:avLst/>
          </a:prstGeom>
          <a:solidFill>
            <a:srgbClr val="111827"/>
          </a:solidFill>
          <a:ln w="19050"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228600" rIns="228600" tIns="274320" wrap="square"/>
          <a:lstStyle/>
          <a:p>
            <a:pPr algn="ctr"/>
            <a:r>
              <a:rPr sz="3800" b="1">
                <a:solidFill>
                  <a:srgbClr val="F59E0B"/>
                </a:solidFill>
                <a:latin typeface="Segoe UI"/>
              </a:rPr>
              <a:t>03</a:t>
            </a:r>
          </a:p>
          <a:p>
            <a:pPr>
              <a:spcBef>
                <a:spcPts val="400"/>
              </a:spcBef>
            </a:pPr>
            <a:r>
              <a:rPr sz="1700" b="1">
                <a:solidFill>
                  <a:srgbClr val="FFFFFF"/>
                </a:solidFill>
                <a:latin typeface="Segoe UI"/>
              </a:rPr>
              <a:t>📑  CHIFFREZ &amp; VALIDEZ</a:t>
            </a:r>
          </a:p>
          <a:p>
            <a:pPr>
              <a:spcBef>
                <a:spcPts val="400"/>
              </a:spcBef>
            </a:pPr>
            <a:r>
              <a:rPr sz="1200" b="1">
                <a:solidFill>
                  <a:srgbClr val="F59E0B"/>
                </a:solidFill>
                <a:latin typeface="Segoe UI"/>
              </a:rPr>
              <a:t>Devis express en direct</a:t>
            </a:r>
          </a:p>
          <a:p>
            <a:pPr>
              <a:spcBef>
                <a:spcPts val="1000"/>
              </a:spcBef>
            </a:pPr>
            <a:r>
              <a:rPr sz="1000">
                <a:solidFill>
                  <a:srgbClr val="374151"/>
                </a:solidFill>
              </a:rPr>
              <a:t>─────────</a:t>
            </a:r>
          </a:p>
          <a:p>
            <a:pPr>
              <a:spcBef>
                <a:spcPts val="1000"/>
              </a:spcBef>
            </a:pPr>
            <a:r>
              <a:rPr sz="1200">
                <a:solidFill>
                  <a:srgbClr val="E2E8F0"/>
                </a:solidFill>
                <a:latin typeface="Segoe UI"/>
              </a:rPr>
              <a:t>Devis instantané, prix fermes et validation immédiate de votre commande sans attente.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8961120" y="1828800"/>
            <a:ext cx="2514600" cy="4297680"/>
          </a:xfrm>
          <a:prstGeom prst="roundRect">
            <a:avLst/>
          </a:prstGeom>
          <a:solidFill>
            <a:srgbClr val="111827"/>
          </a:solidFill>
          <a:ln w="19050">
            <a:solidFill>
              <a:srgbClr val="FBBF2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228600" rIns="228600" tIns="274320" wrap="square"/>
          <a:lstStyle/>
          <a:p>
            <a:pPr algn="ctr"/>
            <a:r>
              <a:rPr sz="3800" b="1">
                <a:solidFill>
                  <a:srgbClr val="FBBF24"/>
                </a:solidFill>
                <a:latin typeface="Segoe UI"/>
              </a:rPr>
              <a:t>04</a:t>
            </a:r>
          </a:p>
          <a:p>
            <a:pPr>
              <a:spcBef>
                <a:spcPts val="400"/>
              </a:spcBef>
            </a:pPr>
            <a:r>
              <a:rPr sz="1700" b="1">
                <a:solidFill>
                  <a:srgbClr val="FFFFFF"/>
                </a:solidFill>
                <a:latin typeface="Segoe UI"/>
              </a:rPr>
              <a:t>🚚  LIVRAISON DIRECTE</a:t>
            </a:r>
          </a:p>
          <a:p>
            <a:pPr>
              <a:spcBef>
                <a:spcPts val="400"/>
              </a:spcBef>
            </a:pPr>
            <a:r>
              <a:rPr sz="1200" b="1">
                <a:solidFill>
                  <a:srgbClr val="FBBF24"/>
                </a:solidFill>
                <a:latin typeface="Segoe UI"/>
              </a:rPr>
              <a:t>Déchargement sur site</a:t>
            </a:r>
          </a:p>
          <a:p>
            <a:pPr>
              <a:spcBef>
                <a:spcPts val="1000"/>
              </a:spcBef>
            </a:pPr>
            <a:r>
              <a:rPr sz="1000">
                <a:solidFill>
                  <a:srgbClr val="374151"/>
                </a:solidFill>
              </a:rPr>
              <a:t>─────────</a:t>
            </a:r>
          </a:p>
          <a:p>
            <a:pPr>
              <a:spcBef>
                <a:spcPts val="1000"/>
              </a:spcBef>
            </a:pPr>
            <a:r>
              <a:rPr sz="1200">
                <a:solidFill>
                  <a:srgbClr val="E2E8F0"/>
                </a:solidFill>
                <a:latin typeface="Segoe UI"/>
              </a:rPr>
              <a:t>On décharge directement sur votre chantier. Gardez les mains sur vos outils !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31520" y="6446520"/>
            <a:ext cx="1078992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00">
                <a:solidFill>
                  <a:srgbClr val="9CA3AF"/>
                </a:solidFill>
                <a:latin typeface="Segoe UI"/>
              </a:rPr>
              <a:t>SOUTARAH GROUP × SOGELEC  •  Négoce Électrique 2.0  •  soutarahgroup.com</a:t>
            </a:r>
            <a:r>
              <a:rPr sz="1000" b="1">
                <a:solidFill>
                  <a:srgbClr val="F59E0B"/>
                </a:solidFill>
                <a:latin typeface="Segoe UI"/>
              </a:rPr>
              <a:t>                                                                                           4 / 6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fond_slide_dark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logo-soutarah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31520" y="274320"/>
            <a:ext cx="1005840" cy="1005840"/>
          </a:xfrm>
          <a:prstGeom prst="rect">
            <a:avLst/>
          </a:prstGeom>
        </p:spPr>
      </p:pic>
      <p:pic>
        <p:nvPicPr>
          <p:cNvPr id="5" name="Picture 4" descr="sogelec.jpe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241280" y="292608"/>
            <a:ext cx="1280160" cy="64008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1920240" y="320040"/>
            <a:ext cx="804672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100" b="1">
                <a:solidFill>
                  <a:srgbClr val="FBBF24"/>
                </a:solidFill>
                <a:latin typeface="Segoe UI"/>
              </a:rPr>
              <a:t>🛡️ AVANTAGES CONCURRENTIELS DÉCISIFS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822960"/>
            <a:ext cx="10789920" cy="5943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2300" b="1">
                <a:solidFill>
                  <a:srgbClr val="FFFFFF"/>
                </a:solidFill>
                <a:latin typeface="Segoe UI"/>
              </a:rPr>
              <a:t>La puissance d'un grand réseau, la réactivité d'un partenaire local.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1371600"/>
            <a:ext cx="1078992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300" i="1">
                <a:solidFill>
                  <a:srgbClr val="9CA3AF"/>
                </a:solidFill>
                <a:latin typeface="Segoe UI"/>
              </a:rPr>
              <a:t>4 arguments chocs pour sécuriser l'approvisionnement de vos chantiers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31520" y="1828800"/>
            <a:ext cx="5212080" cy="2103120"/>
          </a:xfrm>
          <a:prstGeom prst="roundRect">
            <a:avLst/>
          </a:prstGeom>
          <a:solidFill>
            <a:srgbClr val="111827"/>
          </a:solidFill>
          <a:ln w="19050"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274320" rIns="274320" tIns="182880" wrap="square"/>
          <a:lstStyle/>
          <a:p>
            <a:pPr algn="ctr"/>
            <a:r>
              <a:rPr sz="1700" b="1">
                <a:solidFill>
                  <a:srgbClr val="F59E0B"/>
                </a:solidFill>
                <a:latin typeface="Segoe UI"/>
              </a:rPr>
              <a:t>🏆  Réseau Partenaires Solide</a:t>
            </a:r>
          </a:p>
          <a:p>
            <a:pPr>
              <a:spcBef>
                <a:spcPts val="600"/>
              </a:spcBef>
            </a:pPr>
            <a:r>
              <a:rPr sz="1200" b="1">
                <a:solidFill>
                  <a:srgbClr val="FFFFFF"/>
                </a:solidFill>
                <a:latin typeface="Segoe UI"/>
              </a:rPr>
              <a:t>« En collaboration directe avec des géants comme SOGELEC »</a:t>
            </a:r>
          </a:p>
          <a:p>
            <a:pPr>
              <a:spcBef>
                <a:spcPts val="600"/>
              </a:spcBef>
            </a:pPr>
            <a:r>
              <a:rPr sz="1100">
                <a:solidFill>
                  <a:srgbClr val="E2E8F0"/>
                </a:solidFill>
                <a:latin typeface="Segoe UI"/>
              </a:rPr>
              <a:t>Bénéficiez d'une chaîne logistique sans faille, de stocks massifs réservés et des meilleurs tarifs négociés du marché ivoirien.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17920" y="1828800"/>
            <a:ext cx="5212080" cy="2103120"/>
          </a:xfrm>
          <a:prstGeom prst="roundRect">
            <a:avLst/>
          </a:prstGeom>
          <a:solidFill>
            <a:srgbClr val="111827"/>
          </a:solidFill>
          <a:ln w="19050">
            <a:solidFill>
              <a:srgbClr val="0EA5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274320" rIns="274320" tIns="182880" wrap="square"/>
          <a:lstStyle/>
          <a:p>
            <a:pPr algn="ctr"/>
            <a:r>
              <a:rPr sz="1700" b="1">
                <a:solidFill>
                  <a:srgbClr val="0EA5E9"/>
                </a:solidFill>
                <a:latin typeface="Segoe UI"/>
              </a:rPr>
              <a:t>⏱️  Zéro Temps Mort</a:t>
            </a:r>
          </a:p>
          <a:p>
            <a:pPr>
              <a:spcBef>
                <a:spcPts val="600"/>
              </a:spcBef>
            </a:pPr>
            <a:r>
              <a:rPr sz="1200" b="1">
                <a:solidFill>
                  <a:srgbClr val="FFFFFF"/>
                </a:solidFill>
                <a:latin typeface="Segoe UI"/>
              </a:rPr>
              <a:t>« Vos équipes travaillent, elles n'attendent plus après un rouleau de câble »</a:t>
            </a:r>
          </a:p>
          <a:p>
            <a:pPr>
              <a:spcBef>
                <a:spcPts val="600"/>
              </a:spcBef>
            </a:pPr>
            <a:r>
              <a:rPr sz="1100">
                <a:solidFill>
                  <a:srgbClr val="E2E8F0"/>
                </a:solidFill>
                <a:latin typeface="Segoe UI"/>
              </a:rPr>
              <a:t>Chaque minute de retard coûte cher. Nos livraisons synchronisées garantissent la continuité continue de vos chantiers.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31520" y="4114800"/>
            <a:ext cx="5212080" cy="2103120"/>
          </a:xfrm>
          <a:prstGeom prst="roundRect">
            <a:avLst/>
          </a:prstGeom>
          <a:solidFill>
            <a:srgbClr val="111827"/>
          </a:solidFill>
          <a:ln w="1905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274320" rIns="274320" tIns="182880" wrap="square"/>
          <a:lstStyle/>
          <a:p>
            <a:pPr algn="ctr"/>
            <a:r>
              <a:rPr sz="1700" b="1">
                <a:solidFill>
                  <a:srgbClr val="10B981"/>
                </a:solidFill>
                <a:latin typeface="Segoe UI"/>
              </a:rPr>
              <a:t>🛡️  Matériel 100% Conforme</a:t>
            </a:r>
          </a:p>
          <a:p>
            <a:pPr>
              <a:spcBef>
                <a:spcPts val="600"/>
              </a:spcBef>
            </a:pPr>
            <a:r>
              <a:rPr sz="1200" b="1">
                <a:solidFill>
                  <a:srgbClr val="FFFFFF"/>
                </a:solidFill>
                <a:latin typeface="Segoe UI"/>
              </a:rPr>
              <a:t>« Pas de contrefaçon, pas de bricolage, de la sécurité certifiée »</a:t>
            </a:r>
          </a:p>
          <a:p>
            <a:pPr>
              <a:spcBef>
                <a:spcPts val="600"/>
              </a:spcBef>
            </a:pPr>
            <a:r>
              <a:rPr sz="1100">
                <a:solidFill>
                  <a:srgbClr val="E2E8F0"/>
                </a:solidFill>
                <a:latin typeface="Segoe UI"/>
              </a:rPr>
              <a:t>Tous nos composants respectent scrupuleusement les normes de sécurité en vigueur. Zéro risque pour vos installations.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217920" y="4114800"/>
            <a:ext cx="5212080" cy="2103120"/>
          </a:xfrm>
          <a:prstGeom prst="roundRect">
            <a:avLst/>
          </a:prstGeom>
          <a:solidFill>
            <a:srgbClr val="111827"/>
          </a:solidFill>
          <a:ln w="19050">
            <a:solidFill>
              <a:srgbClr val="FBBF2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274320" rIns="274320" tIns="182880" wrap="square"/>
          <a:lstStyle/>
          <a:p>
            <a:pPr algn="ctr"/>
            <a:r>
              <a:rPr sz="1700" b="1">
                <a:solidFill>
                  <a:srgbClr val="FBBF24"/>
                </a:solidFill>
                <a:latin typeface="Segoe UI"/>
              </a:rPr>
              <a:t>📞  Un SAV Toujours Branché</a:t>
            </a:r>
          </a:p>
          <a:p>
            <a:pPr>
              <a:spcBef>
                <a:spcPts val="600"/>
              </a:spcBef>
            </a:pPr>
            <a:r>
              <a:rPr sz="1200" b="1">
                <a:solidFill>
                  <a:srgbClr val="FFFFFF"/>
                </a:solidFill>
                <a:latin typeface="Segoe UI"/>
              </a:rPr>
              <a:t>« Une équipe réactive au téléphone et sur le terrain »</a:t>
            </a:r>
          </a:p>
          <a:p>
            <a:pPr>
              <a:spcBef>
                <a:spcPts val="600"/>
              </a:spcBef>
            </a:pPr>
            <a:r>
              <a:rPr sz="1100">
                <a:solidFill>
                  <a:srgbClr val="E2E8F0"/>
                </a:solidFill>
                <a:latin typeface="Segoe UI"/>
              </a:rPr>
              <a:t>Un doute technique ? Une référence spécifique ? Nos ingénieurs et conseillers dédiés vous accompagnent à chaque étape.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31520" y="6446520"/>
            <a:ext cx="1078992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00">
                <a:solidFill>
                  <a:srgbClr val="9CA3AF"/>
                </a:solidFill>
                <a:latin typeface="Segoe UI"/>
              </a:rPr>
              <a:t>SOUTARAH GROUP × SOGELEC  •  Négoce Électrique 2.0  •  soutarahgroup.com</a:t>
            </a:r>
            <a:r>
              <a:rPr sz="1000" b="1">
                <a:solidFill>
                  <a:srgbClr val="F59E0B"/>
                </a:solidFill>
                <a:latin typeface="Segoe UI"/>
              </a:rPr>
              <a:t>                                                                                           5 / 6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fond_slide_dark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logo-soutarah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31520" y="274320"/>
            <a:ext cx="1005840" cy="1005840"/>
          </a:xfrm>
          <a:prstGeom prst="rect">
            <a:avLst/>
          </a:prstGeom>
        </p:spPr>
      </p:pic>
      <p:pic>
        <p:nvPicPr>
          <p:cNvPr id="5" name="Picture 4" descr="sogelec.jpe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241280" y="292608"/>
            <a:ext cx="1280160" cy="64008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1920240" y="320040"/>
            <a:ext cx="804672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100" b="1">
                <a:solidFill>
                  <a:srgbClr val="F59E0B"/>
                </a:solidFill>
                <a:latin typeface="Segoe UI"/>
              </a:rPr>
              <a:t>🚀 PASSEZ À L'ACTION DÈS AUJOURD'HUI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822960"/>
            <a:ext cx="10789920" cy="5943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2300" b="1">
                <a:solidFill>
                  <a:srgbClr val="FFFFFF"/>
                </a:solidFill>
                <a:latin typeface="Segoe UI"/>
              </a:rPr>
              <a:t>Branchez vos chantiers sur le bon courant !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1371600"/>
            <a:ext cx="1078992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300" i="1">
                <a:solidFill>
                  <a:srgbClr val="9CA3AF"/>
                </a:solidFill>
                <a:latin typeface="Segoe UI"/>
              </a:rPr>
              <a:t>Optimisez vos approvisionnements électriques avec Soutarah Group &amp; SOGELEC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31520" y="1828800"/>
            <a:ext cx="6858000" cy="4297680"/>
          </a:xfrm>
          <a:prstGeom prst="roundRect">
            <a:avLst/>
          </a:prstGeom>
          <a:solidFill>
            <a:srgbClr val="111827"/>
          </a:solidFill>
          <a:ln w="19050"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365760" rIns="365760" tIns="320040" wrap="square"/>
          <a:lstStyle/>
          <a:p>
            <a:pPr algn="ctr"/>
            <a:r>
              <a:rPr sz="1400">
                <a:solidFill>
                  <a:srgbClr val="9CA3AF"/>
                </a:solidFill>
                <a:latin typeface="Segoe UI"/>
              </a:rPr>
              <a:t>🌐  Plateforme Web Officielle :</a:t>
            </a:r>
          </a:p>
          <a:p>
            <a:pPr>
              <a:spcBef>
                <a:spcPts val="200"/>
              </a:spcBef>
            </a:pPr>
            <a:r>
              <a:rPr sz="2200" b="1">
                <a:solidFill>
                  <a:srgbClr val="F59E0B"/>
                </a:solidFill>
                <a:latin typeface="Segoe UI"/>
              </a:rPr>
              <a:t>www.soutarahgroup.com</a:t>
            </a:r>
          </a:p>
          <a:p>
            <a:pPr>
              <a:spcBef>
                <a:spcPts val="1400"/>
              </a:spcBef>
            </a:pPr>
            <a:r>
              <a:rPr sz="1400">
                <a:solidFill>
                  <a:srgbClr val="9CA3AF"/>
                </a:solidFill>
                <a:latin typeface="Segoe UI"/>
              </a:rPr>
              <a:t>⚡  Section Dédiée : </a:t>
            </a:r>
            <a:r>
              <a:rPr b="1">
                <a:solidFill>
                  <a:srgbClr val="FFFFFF"/>
                </a:solidFill>
              </a:rPr>
              <a:t>Négoce Électrique B2B</a:t>
            </a:r>
          </a:p>
          <a:p>
            <a:pPr>
              <a:spcBef>
                <a:spcPts val="600"/>
              </a:spcBef>
            </a:pPr>
            <a:r>
              <a:rPr sz="1400">
                <a:solidFill>
                  <a:srgbClr val="9CA3AF"/>
                </a:solidFill>
                <a:latin typeface="Segoe UI"/>
              </a:rPr>
              <a:t>🤝  Espace Partenaires : </a:t>
            </a:r>
            <a:r>
              <a:rPr b="1">
                <a:solidFill>
                  <a:srgbClr val="FFFFFF"/>
                </a:solidFill>
              </a:rPr>
              <a:t>SOGELEC &amp; Soutarah Group</a:t>
            </a:r>
          </a:p>
          <a:p>
            <a:pPr>
              <a:spcBef>
                <a:spcPts val="600"/>
              </a:spcBef>
            </a:pPr>
            <a:r>
              <a:rPr sz="1400">
                <a:solidFill>
                  <a:srgbClr val="9CA3AF"/>
                </a:solidFill>
                <a:latin typeface="Segoe UI"/>
              </a:rPr>
              <a:t>📍  Couverture : </a:t>
            </a:r>
            <a:r>
              <a:rPr b="1">
                <a:solidFill>
                  <a:srgbClr val="FFFFFF"/>
                </a:solidFill>
              </a:rPr>
              <a:t>Abidjan et tout le territoire ivoirien</a:t>
            </a:r>
          </a:p>
          <a:p>
            <a:pPr>
              <a:spcBef>
                <a:spcPts val="2400"/>
              </a:spcBef>
            </a:pPr>
            <a:r>
              <a:rPr sz="1600" b="1">
                <a:solidFill>
                  <a:srgbClr val="FBBF24"/>
                </a:solidFill>
                <a:latin typeface="Segoe UI"/>
              </a:rPr>
              <a:t>SOUTARAH GROUP
</a:t>
            </a:r>
            <a:r>
              <a:rPr sz="1400" i="1" b="1">
                <a:solidFill>
                  <a:srgbClr val="FFFFFF"/>
                </a:solidFill>
                <a:latin typeface="Segoe UI"/>
              </a:rPr>
              <a:t>Le réflexe matériel qui vous évite le court-circuit.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863840" y="1828800"/>
            <a:ext cx="3596335" cy="4297680"/>
          </a:xfrm>
          <a:prstGeom prst="roundRect">
            <a:avLst/>
          </a:prstGeom>
          <a:solidFill>
            <a:srgbClr val="111827"/>
          </a:solidFill>
          <a:ln w="19050">
            <a:solidFill>
              <a:srgbClr val="0EA5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228600" wrap="square"/>
          <a:lstStyle/>
          <a:p>
            <a:pPr algn="ctr"/>
            <a:r>
              <a:rPr sz="1400" b="1">
                <a:solidFill>
                  <a:srgbClr val="0EA5E9"/>
                </a:solidFill>
                <a:latin typeface="Segoe UI"/>
              </a:rPr>
              <a:t>📱 COMMANDEZ EN LIGNE</a:t>
            </a:r>
          </a:p>
          <a:p>
            <a:pPr algn="ctr">
              <a:spcBef>
                <a:spcPts val="19000"/>
              </a:spcBef>
            </a:pPr>
            <a:r>
              <a:rPr sz="1300" b="1" i="1">
                <a:solidFill>
                  <a:srgbClr val="F59E0B"/>
                </a:solidFill>
                <a:latin typeface="Segoe UI"/>
              </a:rPr>
              <a:t>« Scannez avant la prochaine
coupure de courant ! »</a:t>
            </a:r>
          </a:p>
        </p:txBody>
      </p:sp>
      <p:pic>
        <p:nvPicPr>
          <p:cNvPr id="11" name="Picture 10" descr="qrcode_soutarah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503920" y="2377440"/>
            <a:ext cx="2286000" cy="2286000"/>
          </a:xfrm>
          <a:prstGeom prst="rect">
            <a:avLst/>
          </a:prstGeom>
        </p:spPr>
      </p:pic>
      <p:sp>
        <p:nvSpPr>
          <p:cNvPr id="12" name="TextBox 11"/>
          <p:cNvSpPr txBox="1"/>
          <p:nvPr/>
        </p:nvSpPr>
        <p:spPr>
          <a:xfrm>
            <a:off x="731520" y="6446520"/>
            <a:ext cx="1078992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00">
                <a:solidFill>
                  <a:srgbClr val="9CA3AF"/>
                </a:solidFill>
                <a:latin typeface="Segoe UI"/>
              </a:rPr>
              <a:t>SOUTARAH GROUP × SOGELEC  •  Négoce Électrique 2.0  •  soutarahgroup.com</a:t>
            </a:r>
            <a:r>
              <a:rPr sz="1000" b="1">
                <a:solidFill>
                  <a:srgbClr val="F59E0B"/>
                </a:solidFill>
                <a:latin typeface="Segoe UI"/>
              </a:rPr>
              <a:t>                                                                                           6 / 6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
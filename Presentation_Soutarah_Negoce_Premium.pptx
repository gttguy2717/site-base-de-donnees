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88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228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soutar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2880"/>
            <a:ext cx="1234440" cy="1234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920240" y="201168"/>
            <a:ext cx="8412480" cy="384048"/>
          </a:xfrm>
          <a:prstGeom prst="roundRect">
            <a:avLst/>
          </a:prstGeom>
          <a:solidFill>
            <a:srgbClr val="EC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ctr"/>
            <a:r>
              <a:rPr sz="950" b="1">
                <a:solidFill>
                  <a:srgbClr val="082C1B"/>
                </a:solidFill>
                <a:latin typeface="Calibri"/>
              </a:rPr>
              <a:t>⚡  NÉGOCE ÉLECTRIQUE 2.0  —  SOUTARAH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33856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800" b="1">
                <a:solidFill>
                  <a:srgbClr val="0F172A"/>
                </a:solidFill>
                <a:latin typeface="Calibri"/>
              </a:rPr>
              <a:t>Matériel électrique : </a:t>
            </a:r>
          </a:p>
          <a:p>
            <a:r>
              <a:rPr sz="4000" b="1">
                <a:solidFill>
                  <a:srgbClr val="288134"/>
                </a:solidFill>
                <a:latin typeface="Calibri"/>
              </a:rPr>
              <a:t>Et si on arrêtait de péter les plombs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90672"/>
            <a:ext cx="11338560" cy="1115568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E2E8F0"/>
            </a:solidFill>
          </a:ln>
          <a:effectLst>
            <a:outerShdw blurRad="50000" dist="23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411480" rIns="274320" wrap="square"/>
          <a:lstStyle/>
          <a:p>
            <a:pPr algn="ctr"/>
            <a:r>
              <a:rPr sz="1750" b="1">
                <a:solidFill>
                  <a:srgbClr val="CA8A04"/>
                </a:solidFill>
                <a:latin typeface="Calibri"/>
              </a:rPr>
              <a:t>Devis instantanés, stock visible en live &amp; livraison directe sur chantier</a:t>
            </a:r>
          </a:p>
          <a:p>
            <a:pPr algn="ctr"/>
            <a:r>
              <a:rPr sz="1250">
                <a:solidFill>
                  <a:srgbClr val="334155"/>
                </a:solidFill>
                <a:latin typeface="Calibri"/>
              </a:rPr>
              <a:t>Chiffrage 24 / 7   ·   Stock en temps réel   ·   Livraison directe sur chantier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145536"/>
            <a:ext cx="50292" cy="100584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4434840"/>
            <a:ext cx="3566160" cy="1170432"/>
          </a:xfrm>
          <a:prstGeom prst="roundRect">
            <a:avLst/>
          </a:prstGeom>
          <a:solidFill>
            <a:srgbClr val="ECF8E2"/>
          </a:solidFill>
          <a:ln w="9525">
            <a:solidFill>
              <a:srgbClr val="E2E8F0"/>
            </a:solidFill>
          </a:ln>
          <a:effectLst>
            <a:outerShdw blurRad="50000" dist="23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56032" wrap="square"/>
          <a:lstStyle/>
          <a:p>
            <a:pPr algn="ctr"/>
            <a:r>
              <a:rPr sz="1500" b="1">
                <a:solidFill>
                  <a:srgbClr val="78B72B"/>
                </a:solidFill>
                <a:latin typeface="Calibri"/>
              </a:rPr>
              <a:t>⚡  Devis express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489704"/>
            <a:ext cx="50292" cy="1060704"/>
          </a:xfrm>
          <a:prstGeom prst="rect">
            <a:avLst/>
          </a:prstGeom>
          <a:solidFill>
            <a:srgbClr val="78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4434840"/>
            <a:ext cx="3566160" cy="1170432"/>
          </a:xfrm>
          <a:prstGeom prst="roundRect">
            <a:avLst/>
          </a:prstGeom>
          <a:solidFill>
            <a:srgbClr val="ECF8E2"/>
          </a:solidFill>
          <a:ln w="9525">
            <a:solidFill>
              <a:srgbClr val="E2E8F0"/>
            </a:solidFill>
          </a:ln>
          <a:effectLst>
            <a:outerShdw blurRad="50000" dist="23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56032" wrap="square"/>
          <a:lstStyle/>
          <a:p>
            <a:pPr algn="ctr"/>
            <a:r>
              <a:rPr sz="1500" b="1">
                <a:solidFill>
                  <a:srgbClr val="288134"/>
                </a:solidFill>
                <a:latin typeface="Calibri"/>
              </a:rPr>
              <a:t>📦  Stock en direct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4489704"/>
            <a:ext cx="50292" cy="1060704"/>
          </a:xfrm>
          <a:prstGeom prst="rect">
            <a:avLst/>
          </a:prstGeom>
          <a:solidFill>
            <a:srgbClr val="288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09560" y="4434840"/>
            <a:ext cx="3566160" cy="1170432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E2E8F0"/>
            </a:solidFill>
          </a:ln>
          <a:effectLst>
            <a:outerShdw blurRad="50000" dist="23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56032" wrap="square"/>
          <a:lstStyle/>
          <a:p>
            <a:pPr algn="ctr"/>
            <a:r>
              <a:rPr sz="1500" b="1">
                <a:solidFill>
                  <a:srgbClr val="CA8A04"/>
                </a:solidFill>
                <a:latin typeface="Calibri"/>
              </a:rPr>
              <a:t>🚛  Livraison chantier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4489704"/>
            <a:ext cx="50292" cy="106070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6455664"/>
            <a:ext cx="11420856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6510528"/>
            <a:ext cx="9601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SOUTARAH GROUP  ·  Négoce Électrique 2.0  ·  soutarahgroup.com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288134"/>
                </a:solidFill>
                <a:latin typeface="Calibri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88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228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soutar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2880"/>
            <a:ext cx="1234440" cy="1234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920240" y="201168"/>
            <a:ext cx="5943600" cy="36576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ctr"/>
            <a:r>
              <a:rPr sz="950" b="1">
                <a:solidFill>
                  <a:srgbClr val="B91C1C"/>
                </a:solidFill>
                <a:latin typeface="Calibri"/>
              </a:rPr>
              <a:t>⚠  LE CONSTAT CHANTIER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3385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Calibri"/>
              </a:rPr>
              <a:t>Scène classique sur chantier...</a:t>
            </a:r>
          </a:p>
          <a:p>
            <a:pPr>
              <a:spcBef>
                <a:spcPts val="400"/>
              </a:spcBef>
            </a:pPr>
            <a:r>
              <a:rPr sz="1150" i="1">
                <a:solidFill>
                  <a:srgbClr val="64748B"/>
                </a:solidFill>
                <a:latin typeface="Calibri"/>
              </a:rPr>
              <a:t>(Toute ressemblance avec votre quotidien est purement volontaire)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5440680" cy="2176272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E2E8F0"/>
            </a:solidFill>
          </a:ln>
          <a:effectLst>
            <a:outerShdw blurRad="50000" dist="23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82496"/>
            <a:ext cx="50292" cy="206654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" y="1828800"/>
            <a:ext cx="502920" cy="50292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2200">
                <a:solidFill>
                  <a:srgbClr val="FFFFFF"/>
                </a:solidFill>
              </a:rPr>
              <a:t>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1792224"/>
            <a:ext cx="4562856" cy="1901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B91C1C"/>
                </a:solidFill>
                <a:latin typeface="Calibri"/>
              </a:rPr>
              <a:t>Le devis "fantôme"</a:t>
            </a:r>
          </a:p>
          <a:p>
            <a:pPr>
              <a:spcBef>
                <a:spcPts val="500"/>
              </a:spcBef>
            </a:pPr>
            <a:r>
              <a:rPr sz="1150" i="1">
                <a:solidFill>
                  <a:srgbClr val="334155"/>
                </a:solidFill>
                <a:latin typeface="Calibri"/>
              </a:rPr>
              <a:t>« Demandé lundi, relancé mercredi, reçu le mois prochain. »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64748B"/>
                </a:solidFill>
                <a:latin typeface="Calibri"/>
              </a:rPr>
              <a:t>→  Chantier bloqué, plannings explosés.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27632"/>
            <a:ext cx="5440680" cy="2176272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E2E8F0"/>
            </a:solidFill>
          </a:ln>
          <a:effectLst>
            <a:outerShdw blurRad="50000" dist="23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82496"/>
            <a:ext cx="50292" cy="206654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91656" y="1828800"/>
            <a:ext cx="502920" cy="502920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220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1792224"/>
            <a:ext cx="4562856" cy="1901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CA8A04"/>
                </a:solidFill>
                <a:latin typeface="Calibri"/>
              </a:rPr>
              <a:t>La boîte vide</a:t>
            </a:r>
          </a:p>
          <a:p>
            <a:pPr>
              <a:spcBef>
                <a:spcPts val="500"/>
              </a:spcBef>
            </a:pPr>
            <a:r>
              <a:rPr sz="1150" i="1">
                <a:solidFill>
                  <a:srgbClr val="334155"/>
                </a:solidFill>
                <a:latin typeface="Calibri"/>
              </a:rPr>
              <a:t>« "C'est fini en stock !" — après 2 h d'embouteillages. »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64748B"/>
                </a:solidFill>
                <a:latin typeface="Calibri"/>
              </a:rPr>
              <a:t>→  Temps &amp; carburant gaspillés pour rien.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77639"/>
            <a:ext cx="5440680" cy="2176272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E2E8F0"/>
            </a:solidFill>
          </a:ln>
          <a:effectLst>
            <a:outerShdw blurRad="50000" dist="23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032503"/>
            <a:ext cx="50292" cy="206654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" y="4178807"/>
            <a:ext cx="502920" cy="50292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220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4142231"/>
            <a:ext cx="4562856" cy="1901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B91C1C"/>
                </a:solidFill>
                <a:latin typeface="Calibri"/>
              </a:rPr>
              <a:t>Le mauvais composant</a:t>
            </a:r>
          </a:p>
          <a:p>
            <a:pPr>
              <a:spcBef>
                <a:spcPts val="500"/>
              </a:spcBef>
            </a:pPr>
            <a:r>
              <a:rPr sz="1150" i="1">
                <a:solidFill>
                  <a:srgbClr val="334155"/>
                </a:solidFill>
                <a:latin typeface="Calibri"/>
              </a:rPr>
              <a:t>« "Ça s'adapte avec un bout de scotch." (Spoilers : non.) »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64748B"/>
                </a:solidFill>
                <a:latin typeface="Calibri"/>
              </a:rPr>
              <a:t>→  Risque incendie, non-conformité, reprise coûteuse.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977639"/>
            <a:ext cx="5440680" cy="2176272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E2E8F0"/>
            </a:solidFill>
          </a:ln>
          <a:effectLst>
            <a:outerShdw blurRad="50000" dist="23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4032503"/>
            <a:ext cx="50292" cy="206654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91656" y="4178807"/>
            <a:ext cx="502920" cy="502920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2200">
                <a:solidFill>
                  <a:srgbClr val="FFFFFF"/>
                </a:solidFill>
              </a:rPr>
              <a:t>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4142231"/>
            <a:ext cx="4562856" cy="1901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CA8A04"/>
                </a:solidFill>
                <a:latin typeface="Calibri"/>
              </a:rPr>
              <a:t>Le marathon logistique</a:t>
            </a:r>
          </a:p>
          <a:p>
            <a:pPr>
              <a:spcBef>
                <a:spcPts val="500"/>
              </a:spcBef>
            </a:pPr>
            <a:r>
              <a:rPr sz="1150" i="1">
                <a:solidFill>
                  <a:srgbClr val="334155"/>
                </a:solidFill>
                <a:latin typeface="Calibri"/>
              </a:rPr>
              <a:t>« Le chef de chantier transformé en livreur de câbles. »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64748B"/>
                </a:solidFill>
                <a:latin typeface="Calibri"/>
              </a:rPr>
              <a:t>→  Main-d'œuvre qualifiée détournée de sa vraie mission.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55664"/>
            <a:ext cx="11420856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6510528"/>
            <a:ext cx="9601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SOUTARAH GROUP  ·  Négoce Électrique 2.0  ·  soutarahgroup.com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288134"/>
                </a:solidFill>
                <a:latin typeface="Calibri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88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228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soutar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2880"/>
            <a:ext cx="1234440" cy="1234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920240" y="201168"/>
            <a:ext cx="6400800" cy="365760"/>
          </a:xfrm>
          <a:prstGeom prst="roundRect">
            <a:avLst/>
          </a:prstGeom>
          <a:solidFill>
            <a:srgbClr val="EC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ctr"/>
            <a:r>
              <a:rPr sz="950" b="1">
                <a:solidFill>
                  <a:srgbClr val="082C1B"/>
                </a:solidFill>
                <a:latin typeface="Calibri"/>
              </a:rPr>
              <a:t>💡  LA RÉVOLUTION SOUTARAH NÉGOCE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3385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Calibri"/>
              </a:rPr>
              <a:t>Vous avez le chantier, nous avons les étincelles !</a:t>
            </a:r>
          </a:p>
          <a:p>
            <a:pPr>
              <a:spcBef>
                <a:spcPts val="400"/>
              </a:spcBef>
            </a:pPr>
            <a:r>
              <a:rPr sz="1150" i="1">
                <a:solidFill>
                  <a:srgbClr val="64748B"/>
                </a:solidFill>
                <a:latin typeface="Calibri"/>
              </a:rPr>
              <a:t>Les 4 super-pouvoirs de notre plateforme pour un approvisionnement sans prise de tête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64208"/>
            <a:ext cx="2633472" cy="4553712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E2E8F0"/>
            </a:solidFill>
          </a:ln>
          <a:effectLst>
            <a:outerShdw blurRad="50000" dist="23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64208"/>
            <a:ext cx="2633472" cy="5486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99616" y="1828800"/>
            <a:ext cx="640080" cy="640080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220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78608"/>
            <a:ext cx="23591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>
                <a:solidFill>
                  <a:srgbClr val="CA8A04"/>
                </a:solidFill>
                <a:latin typeface="Calibri"/>
              </a:rPr>
              <a:t>Devis plus rapide que l'éclair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328416"/>
            <a:ext cx="1901952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447288"/>
            <a:ext cx="2304288" cy="2542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>
                <a:solidFill>
                  <a:srgbClr val="334155"/>
                </a:solidFill>
                <a:latin typeface="Calibri"/>
              </a:rPr>
              <a:t>Prix officiels en temps réel, devis pro-forma certifié en 1 clic.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664208"/>
            <a:ext cx="2633472" cy="4553712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E2E8F0"/>
            </a:solidFill>
          </a:ln>
          <a:effectLst>
            <a:outerShdw blurRad="50000" dist="23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5848" y="1664208"/>
            <a:ext cx="263347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52544" y="1828800"/>
            <a:ext cx="64008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2200">
                <a:solidFill>
                  <a:srgbClr val="FFFFFF"/>
                </a:solidFill>
              </a:rPr>
              <a:t>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2578608"/>
            <a:ext cx="23591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>
                <a:solidFill>
                  <a:srgbClr val="2563EB"/>
                </a:solidFill>
                <a:latin typeface="Calibri"/>
              </a:rPr>
              <a:t>Transparence "Rayons X"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21608" y="3328416"/>
            <a:ext cx="1901952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3447288"/>
            <a:ext cx="2304288" cy="2542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>
                <a:solidFill>
                  <a:srgbClr val="334155"/>
                </a:solidFill>
                <a:latin typeface="Calibri"/>
              </a:rPr>
              <a:t>Stock exact visible avant commande. Si c'est affiché, c'est disponible.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1664208"/>
            <a:ext cx="2633472" cy="4553712"/>
          </a:xfrm>
          <a:prstGeom prst="roundRect">
            <a:avLst/>
          </a:prstGeom>
          <a:solidFill>
            <a:srgbClr val="ECF8E2"/>
          </a:solidFill>
          <a:ln w="9525">
            <a:solidFill>
              <a:srgbClr val="E2E8F0"/>
            </a:solidFill>
          </a:ln>
          <a:effectLst>
            <a:outerShdw blurRad="50000" dist="23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8776" y="1664208"/>
            <a:ext cx="2633472" cy="54864"/>
          </a:xfrm>
          <a:prstGeom prst="rect">
            <a:avLst/>
          </a:prstGeom>
          <a:solidFill>
            <a:srgbClr val="288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05472" y="1828800"/>
            <a:ext cx="640080" cy="640080"/>
          </a:xfrm>
          <a:prstGeom prst="roundRect">
            <a:avLst/>
          </a:prstGeom>
          <a:solidFill>
            <a:srgbClr val="288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220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578608"/>
            <a:ext cx="23591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>
                <a:solidFill>
                  <a:srgbClr val="288134"/>
                </a:solidFill>
                <a:latin typeface="Calibri"/>
              </a:rPr>
              <a:t>Écosystème de confiance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74536" y="3328416"/>
            <a:ext cx="1901952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3447288"/>
            <a:ext cx="2304288" cy="2542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>
                <a:solidFill>
                  <a:srgbClr val="334155"/>
                </a:solidFill>
                <a:latin typeface="Calibri"/>
              </a:rPr>
              <a:t>Matériel 100 % certifié constructeur — aucun risque de contrefaçon.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61704" y="1664208"/>
            <a:ext cx="2633472" cy="4553712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E2E8F0"/>
            </a:solidFill>
          </a:ln>
          <a:effectLst>
            <a:outerShdw blurRad="50000" dist="23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61704" y="1664208"/>
            <a:ext cx="263347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058400" y="1828800"/>
            <a:ext cx="640080" cy="6400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2200">
                <a:solidFill>
                  <a:srgbClr val="FFFFFF"/>
                </a:solidFill>
              </a:rPr>
              <a:t>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8864" y="2578608"/>
            <a:ext cx="23591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>
                <a:solidFill>
                  <a:srgbClr val="D97706"/>
                </a:solidFill>
                <a:latin typeface="Calibri"/>
              </a:rPr>
              <a:t>Livraison "Zéro déplacement"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27464" y="3328416"/>
            <a:ext cx="1901952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26296" y="3447288"/>
            <a:ext cx="2304288" cy="2542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>
                <a:solidFill>
                  <a:srgbClr val="334155"/>
                </a:solidFill>
                <a:latin typeface="Calibri"/>
              </a:rPr>
              <a:t>Déchargement express directement sur votre chantier partout en Côte d'Ivoire.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" y="6455664"/>
            <a:ext cx="11420856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6510528"/>
            <a:ext cx="9601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SOUTARAH GROUP  ·  Négoce Électrique 2.0  ·  soutarahgroup.com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288134"/>
                </a:solidFill>
                <a:latin typeface="Calibri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88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228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soutar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2880"/>
            <a:ext cx="1234440" cy="1234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920240" y="201168"/>
            <a:ext cx="6400800" cy="3657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ctr"/>
            <a:r>
              <a:rPr sz="950" b="1">
                <a:solidFill>
                  <a:srgbClr val="2563EB"/>
                </a:solidFill>
                <a:latin typeface="Calibri"/>
              </a:rPr>
              <a:t>🔄  PARCOURS CLIENT FLUIDE &amp; RAPIDE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3385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Calibri"/>
              </a:rPr>
              <a:t>Moins de blabla, plus de watts.</a:t>
            </a:r>
          </a:p>
          <a:p>
            <a:pPr>
              <a:spcBef>
                <a:spcPts val="400"/>
              </a:spcBef>
            </a:pPr>
            <a:r>
              <a:rPr sz="1150" i="1">
                <a:solidFill>
                  <a:srgbClr val="64748B"/>
                </a:solidFill>
                <a:latin typeface="Calibri"/>
              </a:rPr>
              <a:t>Votre matériel électrique livré sur chantier en 4 étapes chrono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64208"/>
            <a:ext cx="2633472" cy="4553712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E2E8F0"/>
            </a:solidFill>
          </a:ln>
          <a:effectLst>
            <a:outerShdw blurRad="50000" dist="23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64208"/>
            <a:ext cx="263347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773936"/>
            <a:ext cx="731520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800" b="1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86584" y="1828800"/>
            <a:ext cx="530352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2200">
                <a:solidFill>
                  <a:srgbClr val="FFFFFF"/>
                </a:solidFill>
              </a:rPr>
              <a:t>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651760"/>
            <a:ext cx="23042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1">
                <a:solidFill>
                  <a:srgbClr val="2563EB"/>
                </a:solidFill>
                <a:latin typeface="Calibri"/>
              </a:rPr>
              <a:t>CLIQUEZ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081528"/>
            <a:ext cx="230428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Calibri"/>
              </a:rPr>
              <a:t>Catalogue en ligne 24 / 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" y="3474720"/>
            <a:ext cx="23042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584448"/>
            <a:ext cx="2304288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>
                <a:solidFill>
                  <a:srgbClr val="334155"/>
                </a:solidFill>
                <a:latin typeface="Calibri"/>
              </a:rPr>
              <a:t>Trouvez câbles, disjoncteurs ou armoires sur soutarahgroup.com en quelques clics.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1664208"/>
            <a:ext cx="2633472" cy="4553712"/>
          </a:xfrm>
          <a:prstGeom prst="roundRect">
            <a:avLst/>
          </a:prstGeom>
          <a:solidFill>
            <a:srgbClr val="CCFBF1"/>
          </a:solidFill>
          <a:ln w="9525">
            <a:solidFill>
              <a:srgbClr val="E2E8F0"/>
            </a:solidFill>
          </a:ln>
          <a:effectLst>
            <a:outerShdw blurRad="50000" dist="23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5848" y="1664208"/>
            <a:ext cx="263347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1773936"/>
            <a:ext cx="731520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800" b="1">
                <a:solidFill>
                  <a:srgbClr val="0D9488"/>
                </a:solidFill>
                <a:latin typeface="Calibri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39512" y="1828800"/>
            <a:ext cx="530352" cy="5303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220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651760"/>
            <a:ext cx="23042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1">
                <a:solidFill>
                  <a:srgbClr val="0D9488"/>
                </a:solidFill>
                <a:latin typeface="Calibri"/>
              </a:rPr>
              <a:t>VÉRIFIEZ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081528"/>
            <a:ext cx="230428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Calibri"/>
              </a:rPr>
              <a:t>Disponibilité immédiate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3474720"/>
            <a:ext cx="23042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3584448"/>
            <a:ext cx="2304288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>
                <a:solidFill>
                  <a:srgbClr val="334155"/>
                </a:solidFill>
                <a:latin typeface="Calibri"/>
              </a:rPr>
              <a:t>Le stock est au vert ? C'est réservé instantanément dans nos entrepôts 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1664208"/>
            <a:ext cx="2633472" cy="4553712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E2E8F0"/>
            </a:solidFill>
          </a:ln>
          <a:effectLst>
            <a:outerShdw blurRad="50000" dist="23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8776" y="1664208"/>
            <a:ext cx="2633472" cy="5486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1773936"/>
            <a:ext cx="731520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800" b="1">
                <a:solidFill>
                  <a:srgbClr val="CA8A04"/>
                </a:solidFill>
                <a:latin typeface="Calibri"/>
              </a:rPr>
              <a:t>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1828800"/>
            <a:ext cx="530352" cy="53035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220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2651760"/>
            <a:ext cx="23042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1">
                <a:solidFill>
                  <a:srgbClr val="CA8A04"/>
                </a:solidFill>
                <a:latin typeface="Calibri"/>
              </a:rPr>
              <a:t>CHIFFREZ &amp; VALIDEZ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3081528"/>
            <a:ext cx="230428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Calibri"/>
              </a:rPr>
              <a:t>Devis express en direct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73368" y="3474720"/>
            <a:ext cx="23042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3584448"/>
            <a:ext cx="2304288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>
                <a:solidFill>
                  <a:srgbClr val="334155"/>
                </a:solidFill>
                <a:latin typeface="Calibri"/>
              </a:rPr>
              <a:t>Prix fermes et validation immédiate — aucune attente, aucune surprise.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61704" y="1664208"/>
            <a:ext cx="2633472" cy="4553712"/>
          </a:xfrm>
          <a:prstGeom prst="roundRect">
            <a:avLst/>
          </a:prstGeom>
          <a:solidFill>
            <a:srgbClr val="ECF8E2"/>
          </a:solidFill>
          <a:ln w="9525">
            <a:solidFill>
              <a:srgbClr val="E2E8F0"/>
            </a:solidFill>
          </a:ln>
          <a:effectLst>
            <a:outerShdw blurRad="50000" dist="23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61704" y="1664208"/>
            <a:ext cx="2633472" cy="54864"/>
          </a:xfrm>
          <a:prstGeom prst="rect">
            <a:avLst/>
          </a:prstGeom>
          <a:solidFill>
            <a:srgbClr val="288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26296" y="1773936"/>
            <a:ext cx="731520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800" b="1">
                <a:solidFill>
                  <a:srgbClr val="288134"/>
                </a:solidFill>
                <a:latin typeface="Calibri"/>
              </a:rPr>
              <a:t>04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45368" y="1828800"/>
            <a:ext cx="530352" cy="530352"/>
          </a:xfrm>
          <a:prstGeom prst="roundRect">
            <a:avLst/>
          </a:prstGeom>
          <a:solidFill>
            <a:srgbClr val="288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2200">
                <a:solidFill>
                  <a:srgbClr val="FFFFFF"/>
                </a:solidFill>
              </a:rPr>
              <a:t>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296" y="2651760"/>
            <a:ext cx="23042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1">
                <a:solidFill>
                  <a:srgbClr val="288134"/>
                </a:solidFill>
                <a:latin typeface="Calibri"/>
              </a:rPr>
              <a:t>LIVRAISON DIRECTE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6296" y="3081528"/>
            <a:ext cx="230428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Calibri"/>
              </a:rPr>
              <a:t>Déchargement sur site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26296" y="3474720"/>
            <a:ext cx="23042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26296" y="3584448"/>
            <a:ext cx="2304288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>
                <a:solidFill>
                  <a:srgbClr val="334155"/>
                </a:solidFill>
                <a:latin typeface="Calibri"/>
              </a:rPr>
              <a:t>On décharge sur votre chantier. Vos équipes restent sur leurs outils !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55664"/>
            <a:ext cx="11420856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" y="6510528"/>
            <a:ext cx="9601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SOUTARAH GROUP  ·  Négoce Électrique 2.0  ·  soutarahgroup.com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288134"/>
                </a:solidFill>
                <a:latin typeface="Calibri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88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228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soutar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2880"/>
            <a:ext cx="1234440" cy="1234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920240" y="201168"/>
            <a:ext cx="6858000" cy="36576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ctr"/>
            <a:r>
              <a:rPr sz="950" b="1">
                <a:solidFill>
                  <a:srgbClr val="D97706"/>
                </a:solidFill>
                <a:latin typeface="Calibri"/>
              </a:rPr>
              <a:t>🏆  AVANTAGES CONCURRENTIELS DÉCISIFS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3385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Calibri"/>
              </a:rPr>
              <a:t>La puissance d'un grand réseau, la réactivité d'un partenaire local.</a:t>
            </a:r>
          </a:p>
          <a:p>
            <a:pPr>
              <a:spcBef>
                <a:spcPts val="400"/>
              </a:spcBef>
            </a:pPr>
            <a:r>
              <a:rPr sz="1150" i="1">
                <a:solidFill>
                  <a:srgbClr val="64748B"/>
                </a:solidFill>
                <a:latin typeface="Calibri"/>
              </a:rPr>
              <a:t>4 arguments chocs pour sécuriser l'approvisionnement de vos chantiers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5440680" cy="2176272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E2E8F0"/>
            </a:solidFill>
          </a:ln>
          <a:effectLst>
            <a:outerShdw blurRad="50000" dist="23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82496"/>
            <a:ext cx="50292" cy="206654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810512"/>
            <a:ext cx="566928" cy="566928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220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773936"/>
            <a:ext cx="447141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CA8A04"/>
                </a:solidFill>
                <a:latin typeface="Calibri"/>
              </a:rPr>
              <a:t>Réseau Partenaires Solide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0F172A"/>
                </a:solidFill>
                <a:latin typeface="Calibri"/>
              </a:rPr>
              <a:t>Fournisseurs officiels certifiés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Stocks massifs réservés, meilleurs tarifs du marché ivoirien, chaîne logistique sans faille.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27632"/>
            <a:ext cx="5440680" cy="2176272"/>
          </a:xfrm>
          <a:prstGeom prst="roundRect">
            <a:avLst/>
          </a:prstGeom>
          <a:solidFill>
            <a:srgbClr val="CCFBF1"/>
          </a:solidFill>
          <a:ln w="9525">
            <a:solidFill>
              <a:srgbClr val="E2E8F0"/>
            </a:solidFill>
          </a:ln>
          <a:effectLst>
            <a:outerShdw blurRad="50000" dist="23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82496"/>
            <a:ext cx="50292" cy="206654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1810512"/>
            <a:ext cx="566928" cy="5669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2200">
                <a:solidFill>
                  <a:srgbClr val="FFFFFF"/>
                </a:solidFill>
              </a:rPr>
              <a:t>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773936"/>
            <a:ext cx="447141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D9488"/>
                </a:solidFill>
                <a:latin typeface="Calibri"/>
              </a:rPr>
              <a:t>Zéro Temps Mort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0F172A"/>
                </a:solidFill>
                <a:latin typeface="Calibri"/>
              </a:rPr>
              <a:t>Vos équipes travaillent sans attendre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Nos livraisons synchronisées garantissent la continuité totale de votre chantier.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05072"/>
            <a:ext cx="5440680" cy="2176272"/>
          </a:xfrm>
          <a:prstGeom prst="roundRect">
            <a:avLst/>
          </a:prstGeom>
          <a:solidFill>
            <a:srgbClr val="ECF8E2"/>
          </a:solidFill>
          <a:ln w="9525">
            <a:solidFill>
              <a:srgbClr val="E2E8F0"/>
            </a:solidFill>
          </a:ln>
          <a:effectLst>
            <a:outerShdw blurRad="50000" dist="23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059936"/>
            <a:ext cx="50292" cy="2066544"/>
          </a:xfrm>
          <a:prstGeom prst="rect">
            <a:avLst/>
          </a:prstGeom>
          <a:solidFill>
            <a:srgbClr val="288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4187952"/>
            <a:ext cx="566928" cy="566928"/>
          </a:xfrm>
          <a:prstGeom prst="roundRect">
            <a:avLst/>
          </a:prstGeom>
          <a:solidFill>
            <a:srgbClr val="288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2200">
                <a:solidFill>
                  <a:srgbClr val="FFFFFF"/>
                </a:solidFill>
              </a:rPr>
              <a:t>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151376"/>
            <a:ext cx="447141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88134"/>
                </a:solidFill>
                <a:latin typeface="Calibri"/>
              </a:rPr>
              <a:t>Matériel 100 % Conforme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0F172A"/>
                </a:solidFill>
                <a:latin typeface="Calibri"/>
              </a:rPr>
              <a:t>Normes de sécurité scrupuleusement respectées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Aucune contrefaçon. Aucun bricolage. Zéro risque pour vos installations.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005072"/>
            <a:ext cx="5440680" cy="2176272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E2E8F0"/>
            </a:solidFill>
          </a:ln>
          <a:effectLst>
            <a:outerShdw blurRad="50000" dist="23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4059936"/>
            <a:ext cx="50292" cy="20665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4187952"/>
            <a:ext cx="566928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2200">
                <a:solidFill>
                  <a:srgbClr val="FFFFFF"/>
                </a:solidFill>
              </a:rPr>
              <a:t>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151376"/>
            <a:ext cx="447141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SAV Toujours Branché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0F172A"/>
                </a:solidFill>
                <a:latin typeface="Calibri"/>
              </a:rPr>
              <a:t>Équipe réactive téléphone &amp; terrain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Doute technique ? Référence spécifique ? Nos ingénieurs vous accompagnent à chaque étape.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55664"/>
            <a:ext cx="11420856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6510528"/>
            <a:ext cx="9601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SOUTARAH GROUP  ·  Négoce Électrique 2.0  ·  soutarahgroup.com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288134"/>
                </a:solidFill>
                <a:latin typeface="Calibri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88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228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soutar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2880"/>
            <a:ext cx="1234440" cy="1234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920240" y="201168"/>
            <a:ext cx="7315200" cy="365760"/>
          </a:xfrm>
          <a:prstGeom prst="roundRect">
            <a:avLst/>
          </a:prstGeom>
          <a:solidFill>
            <a:srgbClr val="EC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ctr"/>
            <a:r>
              <a:rPr sz="950" b="1">
                <a:solidFill>
                  <a:srgbClr val="288134"/>
                </a:solidFill>
                <a:latin typeface="Calibri"/>
              </a:rPr>
              <a:t>🚀  PASSEZ À L'ACTION DÈS AUJOURD'HUI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3385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Calibri"/>
              </a:rPr>
              <a:t>Branchez vos chantiers sur le bon courant !</a:t>
            </a:r>
          </a:p>
          <a:p>
            <a:pPr>
              <a:spcBef>
                <a:spcPts val="400"/>
              </a:spcBef>
            </a:pPr>
            <a:r>
              <a:rPr sz="1150" i="1">
                <a:solidFill>
                  <a:srgbClr val="64748B"/>
                </a:solidFill>
                <a:latin typeface="Calibri"/>
              </a:rPr>
              <a:t>Optimisez vos approvisionnements électriques avec Soutarah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64208"/>
            <a:ext cx="7132320" cy="4572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>
            <a:outerShdw blurRad="50000" dist="23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75488" rIns="320040" tIns="292608" wrap="square"/>
          <a:lstStyle/>
          <a:p>
            <a:pPr algn="ctr"/>
            <a:r>
              <a:rPr sz="1300">
                <a:solidFill>
                  <a:srgbClr val="64748B"/>
                </a:solidFill>
                <a:latin typeface="Calibri"/>
              </a:rPr>
              <a:t>🌐  Plateforme officielle : </a:t>
            </a:r>
            <a:r>
              <a:rPr sz="2000" b="1">
                <a:solidFill>
                  <a:srgbClr val="288134"/>
                </a:solidFill>
                <a:latin typeface="Calibri"/>
              </a:rPr>
              <a:t>www.soutarahgroup.com</a:t>
            </a:r>
          </a:p>
          <a:p/>
          <a:p>
            <a:pPr>
              <a:spcBef>
                <a:spcPts val="1400"/>
              </a:spcBef>
            </a:pPr>
            <a:r>
              <a:rPr sz="1300">
                <a:solidFill>
                  <a:srgbClr val="64748B"/>
                </a:solidFill>
                <a:latin typeface="Calibri"/>
              </a:rPr>
              <a:t>⚡  Section dédiée : </a:t>
            </a:r>
            <a:r>
              <a:rPr sz="1300" b="1">
                <a:solidFill>
                  <a:srgbClr val="0F172A"/>
                </a:solidFill>
                <a:latin typeface="Calibri"/>
              </a:rPr>
              <a:t>Négoce Électrique B2B</a:t>
            </a:r>
          </a:p>
          <a:p/>
          <a:p>
            <a:pPr>
              <a:spcBef>
                <a:spcPts val="1400"/>
              </a:spcBef>
            </a:pPr>
            <a:r>
              <a:rPr sz="1300">
                <a:solidFill>
                  <a:srgbClr val="64748B"/>
                </a:solidFill>
                <a:latin typeface="Calibri"/>
              </a:rPr>
              <a:t>📍  Couverture : </a:t>
            </a:r>
            <a:r>
              <a:rPr sz="1300" b="1">
                <a:solidFill>
                  <a:srgbClr val="0F172A"/>
                </a:solidFill>
                <a:latin typeface="Calibri"/>
              </a:rPr>
              <a:t>Abidjan &amp; tout le territoire ivoirien</a:t>
            </a:r>
          </a:p>
          <a:p/>
          <a:p>
            <a:pPr>
              <a:spcBef>
                <a:spcPts val="1400"/>
              </a:spcBef>
            </a:pPr>
            <a:r>
              <a:rPr sz="1300">
                <a:solidFill>
                  <a:srgbClr val="64748B"/>
                </a:solidFill>
                <a:latin typeface="Calibri"/>
              </a:rPr>
              <a:t>📦  Catalogue : </a:t>
            </a:r>
            <a:r>
              <a:rPr sz="1300" b="1">
                <a:solidFill>
                  <a:srgbClr val="0F172A"/>
                </a:solidFill>
                <a:latin typeface="Calibri"/>
              </a:rPr>
              <a:t>Câbles · Disjoncteurs · Armoires · Accessoires</a:t>
            </a:r>
          </a:p>
          <a:p>
            <a:pPr>
              <a:spcBef>
                <a:spcPts val="2400"/>
              </a:spcBef>
            </a:pPr>
            <a:r>
              <a:rPr sz="1400" b="1">
                <a:solidFill>
                  <a:srgbClr val="288134"/>
                </a:solidFill>
                <a:latin typeface="Calibri"/>
              </a:rPr>
              <a:t>SOUTARAH GROUP  —  </a:t>
            </a:r>
            <a:r>
              <a:rPr sz="1300" i="1" b="1">
                <a:solidFill>
                  <a:srgbClr val="334155"/>
                </a:solidFill>
                <a:latin typeface="Calibri"/>
              </a:rPr>
              <a:t>Le réflexe matériel qui vous évite le court-circuit.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19072"/>
            <a:ext cx="50292" cy="4462272"/>
          </a:xfrm>
          <a:prstGeom prst="rect">
            <a:avLst/>
          </a:prstGeom>
          <a:solidFill>
            <a:srgbClr val="288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82127" y="1664208"/>
            <a:ext cx="3822191" cy="4572000"/>
          </a:xfrm>
          <a:prstGeom prst="roundRect">
            <a:avLst/>
          </a:prstGeom>
          <a:solidFill>
            <a:srgbClr val="ECF8E2"/>
          </a:solidFill>
          <a:ln w="9525">
            <a:solidFill>
              <a:srgbClr val="E2E8F0"/>
            </a:solidFill>
          </a:ln>
          <a:effectLst>
            <a:outerShdw blurRad="50000" dist="23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1168" wrap="square"/>
          <a:lstStyle/>
          <a:p>
            <a:pPr algn="ctr"/>
            <a:r>
              <a:rPr sz="1300" b="1">
                <a:solidFill>
                  <a:srgbClr val="082C1B"/>
                </a:solidFill>
                <a:latin typeface="Calibri"/>
              </a:rPr>
              <a:t>📱  COMMANDEZ EN LIGNE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82127" y="1719072"/>
            <a:ext cx="50292" cy="4462272"/>
          </a:xfrm>
          <a:prstGeom prst="rect">
            <a:avLst/>
          </a:prstGeom>
          <a:solidFill>
            <a:srgbClr val="78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qrcode_soutara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362" y="2395728"/>
            <a:ext cx="2331720" cy="2331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73568" y="4864608"/>
            <a:ext cx="363931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1">
                <a:solidFill>
                  <a:srgbClr val="CA8A04"/>
                </a:solidFill>
                <a:latin typeface="Calibri"/>
              </a:rPr>
              <a:t>« Scannez avant la prochaine
coupure de courant !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6455664"/>
            <a:ext cx="11420856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510528"/>
            <a:ext cx="9601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SOUTARAH GROUP  ·  Négoce Électrique 2.0  ·  soutarahgroup.com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288134"/>
                </a:solidFill>
                <a:latin typeface="Calibri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
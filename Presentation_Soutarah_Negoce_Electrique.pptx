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8640"/>
            <a:ext cx="1645920" cy="1645920"/>
          </a:xfrm>
          <a:prstGeom prst="rect">
            <a:avLst/>
          </a:prstGeom>
        </p:spPr>
      </p:pic>
      <p:pic>
        <p:nvPicPr>
          <p:cNvPr id="5" name="Picture 4" descr="sogelec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594360"/>
            <a:ext cx="1645920" cy="822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926080" y="640080"/>
            <a:ext cx="6309360" cy="411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⚡ ALLIANCE STRATÉGIQUE : SOUTARAH GROUP × SOGELEC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Matériel électrique :
</a:t>
            </a:r>
            <a:r>
              <a:rPr sz="4400" b="1">
                <a:solidFill>
                  <a:srgbClr val="F59E0B"/>
                </a:solidFill>
                <a:latin typeface="Segoe UI"/>
              </a:rPr>
              <a:t>Et si on arrêtait de péter les plombs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10362895" cy="1097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365760" rIns="365760"/>
          <a:lstStyle/>
          <a:p>
            <a:pPr algn="ctr"/>
            <a:r>
              <a:rPr sz="1800" b="1">
                <a:solidFill>
                  <a:srgbClr val="FBBF24"/>
                </a:solidFill>
                <a:latin typeface="Segoe UI"/>
              </a:rPr>
              <a:t>Devis instantanés, stock visible en live &amp; livraison directe sur chantier par Soutarah Group.</a:t>
            </a:r>
          </a:p>
          <a:p>
            <a:pPr algn="ctr"/>
            <a:r>
              <a:rPr sz="1300">
                <a:solidFill>
                  <a:srgbClr val="E2E8F0"/>
                </a:solidFill>
                <a:latin typeface="Segoe UI"/>
              </a:rPr>
              <a:t>⚡ Chiffrage immédiat 24/7   •   📦 Visibilité stock en temps réel   •   🚚 Acheminement direct sur 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10362895" cy="1371600"/>
          </a:xfrm>
          <a:prstGeom prst="roundRect">
            <a:avLst/>
          </a:prstGeom>
          <a:solidFill>
            <a:srgbClr val="101A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457200" rIns="457200"/>
          <a:lstStyle/>
          <a:p>
            <a:pPr algn="ctr"/>
            <a:r>
              <a:rPr sz="1700" i="1" b="1">
                <a:solidFill>
                  <a:srgbClr val="FFFFFF"/>
                </a:solidFill>
                <a:latin typeface="Segoe UI"/>
              </a:rPr>
              <a:t>« Parce qu’un technicien qui attend du matériel, c’est de l’argent qui s'envole en fumée. »</a:t>
            </a:r>
          </a:p>
          <a:p>
            <a:pPr algn="ctr"/>
            <a:r>
              <a:rPr sz="1500" b="1">
                <a:solidFill>
                  <a:srgbClr val="F59E0B"/>
                </a:solidFill>
                <a:latin typeface="Segoe UI"/>
              </a:rPr>
              <a:t>👉 Découvrez le négoce version 2.0 avec Soutarah Group.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sogelec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92608"/>
            <a:ext cx="12801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32004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EF4444"/>
                </a:solidFill>
                <a:latin typeface="Segoe UI"/>
              </a:rPr>
              <a:t>⚠️ LE CONSTAT CHANTIER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Segoe UI"/>
              </a:rPr>
              <a:t>Scène classique sur chantier...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i="1">
                <a:solidFill>
                  <a:srgbClr val="9CA3AF"/>
                </a:solidFill>
                <a:latin typeface="Segoe UI"/>
              </a:rPr>
              <a:t>(Toute ressemblance avec votre quotidien est purement volontaire)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EF4444"/>
                </a:solidFill>
                <a:latin typeface="Segoe UI"/>
              </a:rPr>
              <a:t>⏳  Le devis "fantôme"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FFFFFF"/>
                </a:solidFill>
                <a:latin typeface="Segoe UI"/>
              </a:rPr>
              <a:t>« Demandé lundi, relancé mercredi, reçu... le mois prochain. »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9CA3AF"/>
                </a:solidFill>
                <a:latin typeface="Segoe UI"/>
              </a:rPr>
              <a:t>Résultat : Chantier bloqué, retards de livraison et plannings explosés.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F59E0B"/>
                </a:solidFill>
                <a:latin typeface="Segoe UI"/>
              </a:rPr>
              <a:t>📦  La boîte vide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FFFFFF"/>
                </a:solidFill>
                <a:latin typeface="Segoe UI"/>
              </a:rPr>
              <a:t>« Faire 2 heures d'embouteillages pour entendre : "Ah mon frère, c'est fini en stock !" »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9CA3AF"/>
                </a:solidFill>
                <a:latin typeface="Segoe UI"/>
              </a:rPr>
              <a:t>Résultat : Temps perdu dans les embouteillages d'Abidjan et carburant gaspillé.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EF4444"/>
                </a:solidFill>
                <a:latin typeface="Segoe UI"/>
              </a:rPr>
              <a:t>⚡  Le mauvais composant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FFFFFF"/>
                </a:solidFill>
                <a:latin typeface="Segoe UI"/>
              </a:rPr>
              <a:t>« Le disjoncteur reçu n'est pas le bon, mais "ça s'adapte avec un bout de scotch" (spoilers : non). »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9CA3AF"/>
                </a:solidFill>
                <a:latin typeface="Segoe UI"/>
              </a:rPr>
              <a:t>Résultat : Risques graves d'incendie, non-conformité et reprise coûteuse.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F59E0B"/>
                </a:solidFill>
                <a:latin typeface="Segoe UI"/>
              </a:rPr>
              <a:t>🚚  Le marathon logistique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FFFFFF"/>
                </a:solidFill>
                <a:latin typeface="Segoe UI"/>
              </a:rPr>
              <a:t>« Devoir transformer le chef de chantier en livreur de câbles improvisé. »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9CA3AF"/>
                </a:solidFill>
                <a:latin typeface="Segoe UI"/>
              </a:rPr>
              <a:t>Résultat : Main-d'œuvre qualifiée détournée de sa vraie mission sur le chantier.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sogelec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92608"/>
            <a:ext cx="12801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32004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EA5E9"/>
                </a:solidFill>
                <a:latin typeface="Segoe UI"/>
              </a:rPr>
              <a:t>💡 LA RÉVOLUTION SOUTARAH NÉGOCE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Segoe UI"/>
              </a:rPr>
              <a:t>Vous avez le chantier, nous avons les étincelles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i="1">
                <a:solidFill>
                  <a:srgbClr val="9CA3AF"/>
                </a:solidFill>
                <a:latin typeface="Segoe UI"/>
              </a:rPr>
              <a:t>Les 4 super-pouvoirs de notre plateforme pour un approvisionnement sans prise de tête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 wrap="square"/>
          <a:lstStyle/>
          <a:p>
            <a:pPr algn="ctr"/>
            <a:r>
              <a:rPr sz="3600"/>
              <a:t>⚡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59E0B"/>
                </a:solidFill>
                <a:latin typeface="Segoe UI"/>
              </a:rPr>
              <a:t>Devis plus rapide
que l'éclair</a:t>
            </a:r>
          </a:p>
          <a:p>
            <a:pPr algn="ctr">
              <a:spcBef>
                <a:spcPts val="1200"/>
              </a:spcBef>
            </a:pPr>
            <a:r>
              <a:rPr sz="1300" b="1">
                <a:solidFill>
                  <a:srgbClr val="FFFFFF"/>
                </a:solidFill>
                <a:latin typeface="Segoe UI"/>
              </a:rPr>
              <a:t>Chiffrez vos besoins en ligne en temps réel.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Accédez instantanément aux prix officiels sans attendre des jours. Émission de devis pro-forma certifié en 1 clic.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 wrap="square"/>
          <a:lstStyle/>
          <a:p>
            <a:pPr algn="ctr"/>
            <a:r>
              <a:rPr sz="3600"/>
              <a:t>👁️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0EA5E9"/>
                </a:solidFill>
                <a:latin typeface="Segoe UI"/>
              </a:rPr>
              <a:t>Transparence
"Rayons X"</a:t>
            </a:r>
          </a:p>
          <a:p>
            <a:pPr algn="ctr">
              <a:spcBef>
                <a:spcPts val="1200"/>
              </a:spcBef>
            </a:pPr>
            <a:r>
              <a:rPr sz="1300" b="1">
                <a:solidFill>
                  <a:srgbClr val="FFFFFF"/>
                </a:solidFill>
                <a:latin typeface="Segoe UI"/>
              </a:rPr>
              <a:t>Vous voyez le stock exact disponible avant de cliquer.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Zéro fausse promesse. Si c'est affiché disponible sur la plateforme, le produit est physiquement en rayon.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 wrap="square"/>
          <a:lstStyle/>
          <a:p>
            <a:pPr algn="ctr"/>
            <a:r>
              <a:rPr sz="3600"/>
              <a:t>🤝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10B981"/>
                </a:solidFill>
                <a:latin typeface="Segoe UI"/>
              </a:rPr>
              <a:t>Écosystème
de confiance</a:t>
            </a:r>
          </a:p>
          <a:p>
            <a:pPr algn="ctr">
              <a:spcBef>
                <a:spcPts val="1200"/>
              </a:spcBef>
            </a:pPr>
            <a:r>
              <a:rPr sz="1300" b="1">
                <a:solidFill>
                  <a:srgbClr val="FFFFFF"/>
                </a:solidFill>
                <a:latin typeface="Segoe UI"/>
              </a:rPr>
              <a:t>Soutenu par des leaders comme SOGELEC.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Partenariat direct garantissant du matériel 100% certifié constructeur, normé et d'origine contrôlée.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 wrap="square"/>
          <a:lstStyle/>
          <a:p>
            <a:pPr algn="ctr"/>
            <a:r>
              <a:rPr sz="3600"/>
              <a:t>🚚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BBF24"/>
                </a:solidFill>
                <a:latin typeface="Segoe UI"/>
              </a:rPr>
              <a:t>Livraison
"Zéro déplacement"</a:t>
            </a:r>
          </a:p>
          <a:p>
            <a:pPr algn="ctr">
              <a:spcBef>
                <a:spcPts val="1200"/>
              </a:spcBef>
            </a:pPr>
            <a:r>
              <a:rPr sz="1300" b="1">
                <a:solidFill>
                  <a:srgbClr val="FFFFFF"/>
                </a:solidFill>
                <a:latin typeface="Segoe UI"/>
              </a:rPr>
              <a:t>On vous livre directement sur votre chantier.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Acheminement express sur site à Abidjan et partout à l'intérieur du pays. Vos équipes restent concentrées.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sogelec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92608"/>
            <a:ext cx="12801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32004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Segoe UI"/>
              </a:rPr>
              <a:t>⚡ PARCOURS CLIENT FLUIDE &amp; RAPIDE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Segoe UI"/>
              </a:rPr>
              <a:t>Moins de blabla, plus de watts.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i="1">
                <a:solidFill>
                  <a:srgbClr val="9CA3AF"/>
                </a:solidFill>
                <a:latin typeface="Segoe UI"/>
              </a:rPr>
              <a:t>Votre matériel électrique livré sur chantier en 4 étapes chrono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800" b="1">
                <a:solidFill>
                  <a:srgbClr val="0EA5E9"/>
                </a:solidFill>
                <a:latin typeface="Segoe UI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</a:rPr>
              <a:t>🖱️  CLIQUEZ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EA5E9"/>
                </a:solidFill>
                <a:latin typeface="Segoe UI"/>
              </a:rPr>
              <a:t>Catalogue en ligne 24/7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Segoe UI"/>
              </a:rPr>
              <a:t>Trouvez votre câble, disjoncteur ou armoire sur soutarahgroup.com en quelques clics.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800" b="1">
                <a:solidFill>
                  <a:srgbClr val="10B981"/>
                </a:solidFill>
                <a:latin typeface="Segoe UI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</a:rPr>
              <a:t>🟢  VÉRIFIEZ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0B981"/>
                </a:solidFill>
                <a:latin typeface="Segoe UI"/>
              </a:rPr>
              <a:t>Disponibilité immédiate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Segoe UI"/>
              </a:rPr>
              <a:t>Le stock est au vert ? C’est réservé instantanément pour vous dans nos entrepôts 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800" b="1">
                <a:solidFill>
                  <a:srgbClr val="F59E0B"/>
                </a:solidFill>
                <a:latin typeface="Segoe UI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</a:rPr>
              <a:t>📑  CHIFFREZ &amp; VALIDEZ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  <a:latin typeface="Segoe UI"/>
              </a:rPr>
              <a:t>Devis express en direct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Segoe UI"/>
              </a:rPr>
              <a:t>Devis instantané, prix fermes et validation immédiate de votre commande sans attente.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5146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 wrap="square"/>
          <a:lstStyle/>
          <a:p>
            <a:pPr algn="ctr"/>
            <a:r>
              <a:rPr sz="3800" b="1">
                <a:solidFill>
                  <a:srgbClr val="FBBF24"/>
                </a:solidFill>
                <a:latin typeface="Segoe UI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</a:rPr>
              <a:t>🚚  LIVRAISON DIRECTE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BBF24"/>
                </a:solidFill>
                <a:latin typeface="Segoe UI"/>
              </a:rPr>
              <a:t>Déchargement sur site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374151"/>
                </a:solidFill>
              </a:rPr>
              <a:t>─────────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E2E8F0"/>
                </a:solidFill>
                <a:latin typeface="Segoe UI"/>
              </a:rPr>
              <a:t>On décharge directement sur votre chantier. Gardez les mains sur vos outils 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sogelec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92608"/>
            <a:ext cx="12801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32004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BBF24"/>
                </a:solidFill>
                <a:latin typeface="Segoe UI"/>
              </a:rPr>
              <a:t>🛡️ AVANTAGES CONCURRENTIELS DÉCISIFS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Segoe UI"/>
              </a:rPr>
              <a:t>La puissance d'un grand réseau, la réactivité d'un partenaire local.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i="1">
                <a:solidFill>
                  <a:srgbClr val="9CA3AF"/>
                </a:solidFill>
                <a:latin typeface="Segoe UI"/>
              </a:rPr>
              <a:t>4 arguments chocs pour sécuriser l'approvisionnement de vos chantiers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F59E0B"/>
                </a:solidFill>
                <a:latin typeface="Segoe UI"/>
              </a:rPr>
              <a:t>🏆  Réseau Partenaires Solide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« En collaboration directe avec des géants comme SOGELEC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Bénéficiez d'une chaîne logistique sans faille, de stocks massifs réservés et des meilleurs tarifs négociés du marché ivoirien.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0EA5E9"/>
                </a:solidFill>
                <a:latin typeface="Segoe UI"/>
              </a:rPr>
              <a:t>⏱️  Zéro Temps Mort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« Vos équipes travaillent, elles n'attendent plus après un rouleau de câble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Chaque minute de retard coûte cher. Nos livraisons synchronisées garantissent la continuité continue de vos chantiers.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10B981"/>
                </a:solidFill>
                <a:latin typeface="Segoe UI"/>
              </a:rPr>
              <a:t>🛡️  Matériel 100% Conforme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« Pas de contrefaçon, pas de bricolage, de la sécurité certifiée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Tous nos composants respectent scrupuleusement les normes de sécurité en vigueur. Zéro risque pour vos installations.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/>
            <a:r>
              <a:rPr sz="1700" b="1">
                <a:solidFill>
                  <a:srgbClr val="FBBF24"/>
                </a:solidFill>
                <a:latin typeface="Segoe UI"/>
              </a:rPr>
              <a:t>📞  Un SAV Toujours Branché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« Une équipe réactive au téléphone et sur le terrain »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E2E8F0"/>
                </a:solidFill>
                <a:latin typeface="Segoe UI"/>
              </a:rPr>
              <a:t>Un doute technique ? Une référence spécifique ? Nos ingénieurs et conseillers dédiés vous accompagnent à chaque étape.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slid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outar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sogelec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92608"/>
            <a:ext cx="12801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32004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Segoe UI"/>
              </a:rPr>
              <a:t>🚀 PASSEZ À L'ACTION DÈS AUJOURD'HUI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Segoe UI"/>
              </a:rPr>
              <a:t>Branchez vos chantiers sur le bon courant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i="1">
                <a:solidFill>
                  <a:srgbClr val="9CA3AF"/>
                </a:solidFill>
                <a:latin typeface="Segoe UI"/>
              </a:rPr>
              <a:t>Optimisez vos approvisionnements électriques avec Soutarah Group &amp; SOGELEC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685800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 wrap="square"/>
          <a:lstStyle/>
          <a:p>
            <a:pPr algn="ctr"/>
            <a:r>
              <a:rPr sz="1400">
                <a:solidFill>
                  <a:srgbClr val="9CA3AF"/>
                </a:solidFill>
                <a:latin typeface="Segoe UI"/>
              </a:rPr>
              <a:t>🌐  Plateforme Web Officielle :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59E0B"/>
                </a:solidFill>
                <a:latin typeface="Segoe UI"/>
              </a:rPr>
              <a:t>www.soutarahgroup.com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9CA3AF"/>
                </a:solidFill>
                <a:latin typeface="Segoe UI"/>
              </a:rPr>
              <a:t>⚡  Section Dédiée : </a:t>
            </a:r>
            <a:r>
              <a:rPr b="1">
                <a:solidFill>
                  <a:srgbClr val="FFFFFF"/>
                </a:solidFill>
              </a:rPr>
              <a:t>Négoce Électrique B2B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9CA3AF"/>
                </a:solidFill>
                <a:latin typeface="Segoe UI"/>
              </a:rPr>
              <a:t>🤝  Espace Partenaires : </a:t>
            </a:r>
            <a:r>
              <a:rPr b="1">
                <a:solidFill>
                  <a:srgbClr val="FFFFFF"/>
                </a:solidFill>
              </a:rPr>
              <a:t>SOGELEC &amp; Soutarah Group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9CA3AF"/>
                </a:solidFill>
                <a:latin typeface="Segoe UI"/>
              </a:rPr>
              <a:t>📍  Couverture : </a:t>
            </a:r>
            <a:r>
              <a:rPr b="1">
                <a:solidFill>
                  <a:srgbClr val="FFFFFF"/>
                </a:solidFill>
              </a:rPr>
              <a:t>Abidjan et tout le territoire ivoirien</a:t>
            </a:r>
          </a:p>
          <a:p>
            <a:pPr>
              <a:spcBef>
                <a:spcPts val="2400"/>
              </a:spcBef>
            </a:pPr>
            <a:r>
              <a:rPr sz="1600" b="1">
                <a:solidFill>
                  <a:srgbClr val="FBBF24"/>
                </a:solidFill>
                <a:latin typeface="Segoe UI"/>
              </a:rPr>
              <a:t>SOUTARAH GROUP
</a:t>
            </a:r>
            <a:r>
              <a:rPr sz="1400" i="1" b="1">
                <a:solidFill>
                  <a:srgbClr val="FFFFFF"/>
                </a:solidFill>
                <a:latin typeface="Segoe UI"/>
              </a:rPr>
              <a:t>Le réflexe matériel qui vous évite le court-circuit.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596335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/>
            <a:r>
              <a:rPr sz="1300" b="1">
                <a:solidFill>
                  <a:srgbClr val="0EA5E9"/>
                </a:solidFill>
                <a:latin typeface="Segoe UI"/>
              </a:rPr>
              <a:t>📱 COMMANDEZ EN LIGNE</a:t>
            </a:r>
          </a:p>
        </p:txBody>
      </p:sp>
      <p:pic>
        <p:nvPicPr>
          <p:cNvPr id="11" name="Picture 10" descr="qrcode_soutara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286000"/>
            <a:ext cx="2194560" cy="2194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55279" y="4663440"/>
            <a:ext cx="34134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F59E0B"/>
                </a:solidFill>
                <a:latin typeface="Segoe UI"/>
              </a:rPr>
              <a:t>« Scannez avant la prochaine
coupure de courant !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9CA3AF"/>
                </a:solidFill>
                <a:latin typeface="Segoe UI"/>
              </a:rPr>
              <a:t>SOUTARAH GROUP × SOGELEC  •  Négoce Électrique 2.0  •  soutarahgroup.com</a:t>
            </a:r>
            <a:r>
              <a:rPr sz="1000" b="1">
                <a:solidFill>
                  <a:srgbClr val="F59E0B"/>
                </a:solidFill>
                <a:latin typeface="Segoe UI"/>
              </a:rPr>
              <a:t>                                                                                          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